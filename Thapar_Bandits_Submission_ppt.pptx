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68" r:id="rId3"/>
    <p:sldId id="258" r:id="rId4"/>
    <p:sldId id="259" r:id="rId5"/>
    <p:sldId id="260" r:id="rId6"/>
    <p:sldId id="261" r:id="rId7"/>
    <p:sldId id="262" r:id="rId8"/>
    <p:sldId id="263" r:id="rId9"/>
    <p:sldId id="269" r:id="rId10"/>
    <p:sldId id="264" r:id="rId11"/>
    <p:sldId id="271" r:id="rId12"/>
    <p:sldId id="265" r:id="rId13"/>
    <p:sldId id="266" r:id="rId14"/>
    <p:sldId id="270" r:id="rId15"/>
    <p:sldId id="267" r:id="rId1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8" roundtripDataSignature="AMtx7mgQuomGbdS/wh2yqkB/K4YAZ70YA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296" autoAdjust="0"/>
  </p:normalViewPr>
  <p:slideViewPr>
    <p:cSldViewPr snapToGrid="0">
      <p:cViewPr varScale="1">
        <p:scale>
          <a:sx n="84" d="100"/>
          <a:sy n="84" d="100"/>
        </p:scale>
        <p:origin x="629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customschemas.google.com/relationships/presentationmetadata" Target="meta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7" name="Google Shape;87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9" name="Google Shape;159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Closing slide. Add the Google Form URL and a contact email before sharing. Edition 2 </a:t>
            </a:r>
            <a:r>
              <a:rPr lang="en-US" dirty="0" err="1"/>
              <a:t>organising</a:t>
            </a:r>
            <a:r>
              <a:rPr lang="en-US" dirty="0"/>
              <a:t> team for reference: Language AI - Sourabh Tiwari, Gaurav, Sanjeeth </a:t>
            </a:r>
            <a:r>
              <a:rPr lang="en-US" dirty="0" err="1"/>
              <a:t>Pothireddy</a:t>
            </a:r>
            <a:r>
              <a:rPr lang="en-US" dirty="0"/>
              <a:t>, </a:t>
            </a:r>
            <a:r>
              <a:rPr lang="en-US" dirty="0" err="1"/>
              <a:t>Gorang</a:t>
            </a:r>
            <a:r>
              <a:rPr lang="en-US" dirty="0"/>
              <a:t> Maniar; PRISM - Binny Lakra, Prakhar </a:t>
            </a:r>
            <a:r>
              <a:rPr lang="en-US" dirty="0" err="1"/>
              <a:t>Chandrakar</a:t>
            </a:r>
            <a:r>
              <a:rPr lang="en-US" dirty="0"/>
              <a:t>, Vishu Kumar; Kick-off and mentors - Giridhar Jakki, </a:t>
            </a:r>
            <a:r>
              <a:rPr lang="en-US" dirty="0" err="1"/>
              <a:t>Deepraj</a:t>
            </a:r>
            <a:r>
              <a:rPr lang="en-US" dirty="0"/>
              <a:t> Prabhakar Patkar (Language AI), </a:t>
            </a:r>
            <a:r>
              <a:rPr lang="en-US" dirty="0" err="1"/>
              <a:t>Srimanu</a:t>
            </a:r>
            <a:r>
              <a:rPr lang="en-US" dirty="0"/>
              <a:t> Prasad Nagaraju, Ashish Kumar (Tech Strategy).</a:t>
            </a:r>
            <a:endParaRPr dirty="0"/>
          </a:p>
        </p:txBody>
      </p:sp>
      <p:sp>
        <p:nvSpPr>
          <p:cNvPr id="160" name="Google Shape;160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" name="Google Shape;19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6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6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5" name="Google Shape;25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7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7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1" name="Google Shape;3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18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9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9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4" name="Google Shape;44;p19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19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6" name="Google Shape;46;p19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2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2" name="Google Shape;62;p22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3" name="Google Shape;63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23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23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0" name="Google Shape;7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24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6" name="Google Shape;7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5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25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2" name="Google Shape;82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hyperlink" Target="mailto:lgarg1_be25@thapar.edu" TargetMode="External"/><Relationship Id="rId7" Type="http://schemas.openxmlformats.org/officeDocument/2006/relationships/hyperlink" Target="https://github.com/goutamjainnn09/Thapar_Bandits-Agentic-Code-Intelligence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hyperlink" Target="mailto:nmahajan_be25@thapar.edu" TargetMode="External"/><Relationship Id="rId5" Type="http://schemas.openxmlformats.org/officeDocument/2006/relationships/hyperlink" Target="mailto:vmanchanda_be25@thapar.edu" TargetMode="External"/><Relationship Id="rId4" Type="http://schemas.openxmlformats.org/officeDocument/2006/relationships/hyperlink" Target="mailto:gjain_be25@thapar.edu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"/>
          <p:cNvSpPr/>
          <p:nvPr/>
        </p:nvSpPr>
        <p:spPr>
          <a:xfrm>
            <a:off x="777240" y="676656"/>
            <a:ext cx="2423160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 cap="flat" cmpd="sng">
            <a:solidFill>
              <a:srgbClr val="D9D3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1"/>
          <p:cNvSpPr txBox="1"/>
          <p:nvPr/>
        </p:nvSpPr>
        <p:spPr>
          <a:xfrm>
            <a:off x="777240" y="676656"/>
            <a:ext cx="24231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6D28D9"/>
                </a:solidFill>
                <a:latin typeface="Arial"/>
                <a:ea typeface="Arial"/>
                <a:cs typeface="Arial"/>
                <a:sym typeface="Arial"/>
              </a:rPr>
              <a:t>SAMSUNG PRISM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777240" y="1207008"/>
            <a:ext cx="6126480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142B"/>
              </a:buClr>
              <a:buSzPts val="5000"/>
              <a:buFont typeface="Arial"/>
              <a:buNone/>
            </a:pPr>
            <a:r>
              <a:rPr lang="en-US" sz="5000" b="1" i="0" u="none" strike="noStrike" cap="none" dirty="0">
                <a:solidFill>
                  <a:srgbClr val="14142B"/>
                </a:solidFill>
                <a:latin typeface="Arial"/>
                <a:ea typeface="Arial"/>
                <a:cs typeface="Arial"/>
                <a:sym typeface="Arial"/>
              </a:rPr>
              <a:t>Generative AI</a:t>
            </a:r>
            <a:endParaRPr sz="5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777240" y="1901952"/>
            <a:ext cx="6126480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5000"/>
              <a:buFont typeface="Arial"/>
              <a:buNone/>
            </a:pPr>
            <a:r>
              <a:rPr lang="en-US" sz="5000" b="1" i="0" u="none" strike="noStrike" cap="none" dirty="0">
                <a:solidFill>
                  <a:srgbClr val="6D28D9"/>
                </a:solidFill>
                <a:latin typeface="Arial"/>
                <a:ea typeface="Arial"/>
                <a:cs typeface="Arial"/>
                <a:sym typeface="Arial"/>
              </a:rPr>
              <a:t>Hackathon</a:t>
            </a:r>
            <a:endParaRPr sz="5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777240" y="2724912"/>
            <a:ext cx="61264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142B"/>
              </a:buClr>
              <a:buSzPts val="2500"/>
              <a:buFont typeface="Arial"/>
              <a:buNone/>
            </a:pPr>
            <a:r>
              <a:rPr lang="en-US" sz="2500" b="1" i="0" u="none" strike="noStrike" cap="none" dirty="0">
                <a:solidFill>
                  <a:srgbClr val="14142B"/>
                </a:solidFill>
                <a:latin typeface="Arial"/>
                <a:ea typeface="Arial"/>
                <a:cs typeface="Arial"/>
                <a:sym typeface="Arial"/>
              </a:rPr>
              <a:t>3rd Edition</a:t>
            </a:r>
            <a:r>
              <a:rPr lang="en-US" sz="2000" b="0" i="0" u="none" strike="noStrike" cap="none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   2026 – 27</a:t>
            </a:r>
            <a:endParaRPr sz="2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777240" y="3310128"/>
            <a:ext cx="7552944" cy="2697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77800" marR="0" lvl="0" indent="-177800" algn="l" rtl="0">
              <a:spcBef>
                <a:spcPts val="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lang="en-US" sz="1600" b="0" i="0" u="none" strike="noStrike" cap="none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Theme ID – </a:t>
            </a:r>
            <a:r>
              <a:rPr lang="en-US" sz="1600" b="1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THEME 01</a:t>
            </a:r>
            <a:endParaRPr dirty="0"/>
          </a:p>
          <a:p>
            <a:pPr marL="177800" marR="0" lvl="0" indent="-177800" algn="l" rtl="0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lang="en-US" sz="1600" b="0" i="0" u="none" strike="noStrike" cap="none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Team Name – </a:t>
            </a:r>
            <a:r>
              <a:rPr lang="en-US" sz="1600" b="1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THAPAR_BANDITS</a:t>
            </a:r>
            <a:endParaRPr dirty="0"/>
          </a:p>
          <a:p>
            <a:pPr marL="177800" marR="0" lvl="0" indent="-177800" algn="l" rtl="0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lang="en-US" sz="1600" b="0" i="0" u="none" strike="noStrike" cap="none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College Name – </a:t>
            </a:r>
            <a:r>
              <a:rPr lang="en-US" sz="1600" b="1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THAPAR INSTITUTE OF ENGINEERING AND TECHNOLOGY</a:t>
            </a:r>
            <a:endParaRPr dirty="0"/>
          </a:p>
          <a:p>
            <a:pPr marL="177800" marR="0" lvl="0" indent="-177800" algn="l" rtl="0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lang="en-US" sz="1600" b="0" i="0" u="none" strike="noStrike" cap="none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Member Name &amp; Email 1-  </a:t>
            </a:r>
            <a:r>
              <a:rPr lang="en-US" sz="1600" b="1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LAKSHYA GARG ( </a:t>
            </a:r>
            <a:r>
              <a:rPr lang="en-US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lgarg1_be25@thapar.edu</a:t>
            </a:r>
            <a:r>
              <a:rPr lang="en-US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600" b="1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lang="en-US" dirty="0"/>
          </a:p>
          <a:p>
            <a:pPr marL="177800" marR="0" lvl="0" indent="-177800" algn="l" rtl="0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lang="en-US" sz="1600" b="0" i="0" u="none" strike="noStrike" cap="none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Member Name &amp; Email 2- </a:t>
            </a:r>
            <a:r>
              <a:rPr lang="en-US" sz="1600" b="1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GOUTAM JAIN (</a:t>
            </a:r>
            <a:r>
              <a:rPr lang="en-US" sz="1600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600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gjain_be25@thapar.edu</a:t>
            </a:r>
            <a:r>
              <a:rPr lang="en-US" sz="1600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600" b="1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dirty="0"/>
          </a:p>
          <a:p>
            <a:pPr marL="177800" marR="0" lvl="0" indent="-177800" algn="l" rtl="0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lang="en-US" sz="1600" b="0" i="0" u="none" strike="noStrike" cap="none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Member Name &amp; Email 3-  </a:t>
            </a:r>
            <a:r>
              <a:rPr lang="en-US" sz="1600" b="1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VAIBHAV MANCHANDA </a:t>
            </a:r>
            <a:r>
              <a:rPr lang="en-US" sz="1600" b="1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lang="en-US" sz="1600" b="0" i="0" u="none" strike="noStrike" cap="none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600" b="0" i="0" u="none" strike="noStrike" cap="none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vmanchanda_be25@thapar.edu</a:t>
            </a:r>
            <a:r>
              <a:rPr lang="en-US" sz="1600" b="0" i="0" u="none" strike="noStrike" cap="none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600" b="1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dirty="0"/>
          </a:p>
          <a:p>
            <a:pPr marL="177800" marR="0" lvl="0" indent="-177800" algn="l" rtl="0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lang="en-US" sz="1600" b="0" i="0" u="none" strike="noStrike" cap="none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Member Name &amp; Email 4- </a:t>
            </a:r>
            <a:r>
              <a:rPr lang="en-US" sz="1600" b="1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NAMISH MAHAJAN ( </a:t>
            </a:r>
            <a:r>
              <a:rPr lang="en-US" sz="1600" b="0" i="0" u="none" strike="noStrike" cap="none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nmahajan_be25@thapar.edu</a:t>
            </a:r>
            <a:r>
              <a:rPr lang="en-US" sz="1600" b="0" i="0" u="none" strike="noStrike" cap="none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600" b="1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dirty="0"/>
          </a:p>
          <a:p>
            <a:pPr marL="177800" lvl="0" indent="-177800">
              <a:spcBef>
                <a:spcPts val="500"/>
              </a:spcBef>
              <a:buClr>
                <a:srgbClr val="63637E"/>
              </a:buClr>
              <a:buSzPts val="1600"/>
              <a:buFont typeface="Calibri"/>
              <a:buChar char="•"/>
            </a:pPr>
            <a:r>
              <a:rPr lang="en-US" sz="1600" b="0" i="0" u="none" strike="noStrike" cap="none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Submission </a:t>
            </a:r>
            <a:r>
              <a:rPr lang="en-US" sz="1600" b="0" i="0" u="none" strike="noStrike" cap="none" dirty="0" err="1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Github</a:t>
            </a:r>
            <a:r>
              <a:rPr lang="en-US" sz="1600" b="0" i="0" u="none" strike="noStrike" cap="none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 link – </a:t>
            </a:r>
            <a:r>
              <a:rPr lang="en-US" sz="1600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  <a:hlinkClick r:id="rId7"/>
              </a:rPr>
              <a:t>https://github.com/goutamjainnn09/Thapar_Bandits-Agentic-Code-Intelligence</a:t>
            </a:r>
            <a:r>
              <a:rPr lang="en-US" sz="1600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dirty="0"/>
          </a:p>
          <a:p>
            <a:pPr marL="177800" marR="0" lvl="0" indent="-7620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 dirty="0">
              <a:solidFill>
                <a:srgbClr val="63637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6" name="Google Shape;96;p1" descr="hero_network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461504" y="1024128"/>
            <a:ext cx="4572000" cy="457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01;p2">
            <a:extLst>
              <a:ext uri="{FF2B5EF4-FFF2-40B4-BE49-F238E27FC236}">
                <a16:creationId xmlns:a16="http://schemas.microsoft.com/office/drawing/2014/main" id="{397A6468-341E-6606-81DD-477A7E602E73}"/>
              </a:ext>
            </a:extLst>
          </p:cNvPr>
          <p:cNvSpPr txBox="1">
            <a:spLocks/>
          </p:cNvSpPr>
          <p:nvPr/>
        </p:nvSpPr>
        <p:spPr>
          <a:xfrm>
            <a:off x="443345" y="85664"/>
            <a:ext cx="1037844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rgbClr val="704EA6"/>
              </a:buClr>
              <a:buSzPts val="4400"/>
              <a:buFont typeface="Calibri"/>
              <a:buNone/>
            </a:pPr>
            <a:r>
              <a:rPr lang="en-US" sz="4400" b="1" dirty="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Theme 01 – GENERATIVE AI</a:t>
            </a:r>
            <a:endParaRPr lang="en-US" sz="44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DB50A65-4CD2-FACC-704B-A4B464ABF60A}"/>
              </a:ext>
            </a:extLst>
          </p:cNvPr>
          <p:cNvSpPr/>
          <p:nvPr/>
        </p:nvSpPr>
        <p:spPr>
          <a:xfrm>
            <a:off x="609600" y="2506602"/>
            <a:ext cx="10972800" cy="9906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F94F82B-98D1-B6D4-58D6-60A44B10E87A}"/>
              </a:ext>
            </a:extLst>
          </p:cNvPr>
          <p:cNvSpPr/>
          <p:nvPr/>
        </p:nvSpPr>
        <p:spPr>
          <a:xfrm>
            <a:off x="609600" y="3725802"/>
            <a:ext cx="10972800" cy="9906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269346C-4CBE-E894-92AA-909BA0911624}"/>
              </a:ext>
            </a:extLst>
          </p:cNvPr>
          <p:cNvSpPr/>
          <p:nvPr/>
        </p:nvSpPr>
        <p:spPr>
          <a:xfrm>
            <a:off x="609600" y="4945002"/>
            <a:ext cx="10972800" cy="9906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F24A202-1E47-A138-2A13-954AA623ED47}"/>
              </a:ext>
            </a:extLst>
          </p:cNvPr>
          <p:cNvSpPr/>
          <p:nvPr/>
        </p:nvSpPr>
        <p:spPr>
          <a:xfrm>
            <a:off x="609600" y="2506602"/>
            <a:ext cx="57150" cy="9906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1FE2EF0-436D-9E89-350F-233C8885BB18}"/>
              </a:ext>
            </a:extLst>
          </p:cNvPr>
          <p:cNvSpPr/>
          <p:nvPr/>
        </p:nvSpPr>
        <p:spPr>
          <a:xfrm>
            <a:off x="609600" y="3725802"/>
            <a:ext cx="57150" cy="9906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D0BE7D3-B913-28A7-8344-5A8761F994FB}"/>
              </a:ext>
            </a:extLst>
          </p:cNvPr>
          <p:cNvSpPr/>
          <p:nvPr/>
        </p:nvSpPr>
        <p:spPr>
          <a:xfrm>
            <a:off x="609600" y="4945002"/>
            <a:ext cx="57150" cy="9906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67CF657-4403-19BF-1FE3-376E7AA5C577}"/>
              </a:ext>
            </a:extLst>
          </p:cNvPr>
          <p:cNvSpPr txBox="1"/>
          <p:nvPr/>
        </p:nvSpPr>
        <p:spPr>
          <a:xfrm>
            <a:off x="971550" y="2735202"/>
            <a:ext cx="11220450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 dirty="0">
                <a:solidFill>
                  <a:srgbClr val="0F172A"/>
                </a:solidFill>
                <a:latin typeface="Plus Jakarta Sans"/>
              </a:rPr>
              <a:t>Large-Scale Code Navigation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8FAD33F-B524-366E-B94E-12E2C5282AA3}"/>
              </a:ext>
            </a:extLst>
          </p:cNvPr>
          <p:cNvSpPr txBox="1"/>
          <p:nvPr/>
        </p:nvSpPr>
        <p:spPr>
          <a:xfrm>
            <a:off x="971550" y="3049527"/>
            <a:ext cx="1122045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 dirty="0">
                <a:solidFill>
                  <a:srgbClr val="475569"/>
                </a:solidFill>
                <a:latin typeface="Plus Jakarta Sans"/>
              </a:rPr>
              <a:t>Voice-assistant codebases span thousands of files, exceeding context window capacities.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1672A0D-1316-5209-7786-471FABC8EA1C}"/>
              </a:ext>
            </a:extLst>
          </p:cNvPr>
          <p:cNvSpPr txBox="1"/>
          <p:nvPr/>
        </p:nvSpPr>
        <p:spPr>
          <a:xfrm>
            <a:off x="971550" y="3954402"/>
            <a:ext cx="11220450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Natural Language Intent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5DD568E-1081-D560-A9A2-D1B8EF66AB6D}"/>
              </a:ext>
            </a:extLst>
          </p:cNvPr>
          <p:cNvSpPr txBox="1"/>
          <p:nvPr/>
        </p:nvSpPr>
        <p:spPr>
          <a:xfrm>
            <a:off x="971550" y="4268727"/>
            <a:ext cx="1122045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Extract precise code locations from plain-English questions without full-repo ingestion.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620397E-BEB2-4285-A3E9-6020F94FE6AD}"/>
              </a:ext>
            </a:extLst>
          </p:cNvPr>
          <p:cNvSpPr txBox="1"/>
          <p:nvPr/>
        </p:nvSpPr>
        <p:spPr>
          <a:xfrm>
            <a:off x="971550" y="5173602"/>
            <a:ext cx="11220450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Sub-Context Snippet Extraction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479C09B-0F1B-3268-CC4A-10489E306A91}"/>
              </a:ext>
            </a:extLst>
          </p:cNvPr>
          <p:cNvSpPr txBox="1"/>
          <p:nvPr/>
        </p:nvSpPr>
        <p:spPr>
          <a:xfrm>
            <a:off x="971550" y="5487927"/>
            <a:ext cx="1122045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Retrieves exact code snippets alongside file names and line ranges for rapid isolation.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6DDB594-8B5F-DF8A-5541-353DC4FC5BA2}"/>
              </a:ext>
            </a:extLst>
          </p:cNvPr>
          <p:cNvSpPr txBox="1"/>
          <p:nvPr/>
        </p:nvSpPr>
        <p:spPr>
          <a:xfrm>
            <a:off x="609600" y="1232023"/>
            <a:ext cx="3196388" cy="40780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650" b="1" i="0" u="none" dirty="0">
                <a:solidFill>
                  <a:srgbClr val="2563EB"/>
                </a:solidFill>
                <a:latin typeface="Plus Jakarta Sans"/>
              </a:rPr>
              <a:t>PROBLEM STATEMENT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4069939-3ACA-E372-BDED-7B2DC2408E3B}"/>
              </a:ext>
            </a:extLst>
          </p:cNvPr>
          <p:cNvSpPr txBox="1"/>
          <p:nvPr/>
        </p:nvSpPr>
        <p:spPr>
          <a:xfrm>
            <a:off x="628654" y="1754127"/>
            <a:ext cx="11582400" cy="4095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50" b="1" i="0" u="none" dirty="0">
                <a:solidFill>
                  <a:srgbClr val="0F172A"/>
                </a:solidFill>
                <a:latin typeface="Plus Jakarta Sans"/>
              </a:rPr>
              <a:t>Scale Bottlenecks in Modern Codebases</a:t>
            </a:r>
          </a:p>
        </p:txBody>
      </p:sp>
    </p:spTree>
    <p:extLst>
      <p:ext uri="{BB962C8B-B14F-4D97-AF65-F5344CB8AC3E}">
        <p14:creationId xmlns:p14="http://schemas.microsoft.com/office/powerpoint/2010/main" val="3228252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/>
          <p:cNvSpPr txBox="1">
            <a:spLocks noGrp="1"/>
          </p:cNvSpPr>
          <p:nvPr>
            <p:ph type="title"/>
          </p:nvPr>
        </p:nvSpPr>
        <p:spPr>
          <a:xfrm>
            <a:off x="609600" y="491471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lang="en-US" b="1" dirty="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Existing Solutions &amp; Gaps</a:t>
            </a:r>
            <a:endParaRPr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6B2B953-E9F1-6916-4EAF-DA43EDEE618B}"/>
              </a:ext>
            </a:extLst>
          </p:cNvPr>
          <p:cNvSpPr/>
          <p:nvPr/>
        </p:nvSpPr>
        <p:spPr>
          <a:xfrm>
            <a:off x="609600" y="4003835"/>
            <a:ext cx="274081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960DE30-0BDB-9A0F-6568-893D4AA558B3}"/>
              </a:ext>
            </a:extLst>
          </p:cNvPr>
          <p:cNvSpPr/>
          <p:nvPr/>
        </p:nvSpPr>
        <p:spPr>
          <a:xfrm>
            <a:off x="3350419" y="4003835"/>
            <a:ext cx="383708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BD33F2D-08FA-747F-84CE-B8FC70FBF5DF}"/>
              </a:ext>
            </a:extLst>
          </p:cNvPr>
          <p:cNvSpPr/>
          <p:nvPr/>
        </p:nvSpPr>
        <p:spPr>
          <a:xfrm>
            <a:off x="7187505" y="4003835"/>
            <a:ext cx="438536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0957267-3D98-8F08-64B2-79AAC59F315F}"/>
              </a:ext>
            </a:extLst>
          </p:cNvPr>
          <p:cNvSpPr/>
          <p:nvPr/>
        </p:nvSpPr>
        <p:spPr>
          <a:xfrm>
            <a:off x="609600" y="4998156"/>
            <a:ext cx="274081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D508336-9F7C-9D87-B1C3-CAC89A642CD6}"/>
              </a:ext>
            </a:extLst>
          </p:cNvPr>
          <p:cNvSpPr/>
          <p:nvPr/>
        </p:nvSpPr>
        <p:spPr>
          <a:xfrm>
            <a:off x="3350419" y="4998156"/>
            <a:ext cx="383708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D1E4F6A-45CC-D951-036C-C944B46F4BA8}"/>
              </a:ext>
            </a:extLst>
          </p:cNvPr>
          <p:cNvSpPr/>
          <p:nvPr/>
        </p:nvSpPr>
        <p:spPr>
          <a:xfrm>
            <a:off x="7187505" y="4998156"/>
            <a:ext cx="438536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image.png">
            <a:extLst>
              <a:ext uri="{FF2B5EF4-FFF2-40B4-BE49-F238E27FC236}">
                <a16:creationId xmlns:a16="http://schemas.microsoft.com/office/drawing/2014/main" id="{2B9FAA9F-9D33-6D5E-ED80-2251BA4A62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813" y="4425763"/>
            <a:ext cx="161925" cy="161925"/>
          </a:xfrm>
          <a:prstGeom prst="rect">
            <a:avLst/>
          </a:prstGeom>
        </p:spPr>
      </p:pic>
      <p:pic>
        <p:nvPicPr>
          <p:cNvPr id="28" name="Picture 27" descr="image.png">
            <a:extLst>
              <a:ext uri="{FF2B5EF4-FFF2-40B4-BE49-F238E27FC236}">
                <a16:creationId xmlns:a16="http://schemas.microsoft.com/office/drawing/2014/main" id="{E59FC06E-92ED-CD9C-E851-BC4A3F84E7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813" y="3431442"/>
            <a:ext cx="142875" cy="161925"/>
          </a:xfrm>
          <a:prstGeom prst="rect">
            <a:avLst/>
          </a:prstGeom>
        </p:spPr>
      </p:pic>
      <p:pic>
        <p:nvPicPr>
          <p:cNvPr id="32" name="Picture 31" descr="image.png">
            <a:extLst>
              <a:ext uri="{FF2B5EF4-FFF2-40B4-BE49-F238E27FC236}">
                <a16:creationId xmlns:a16="http://schemas.microsoft.com/office/drawing/2014/main" id="{2E0A15E0-01C7-4236-5C16-2578972689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5813" y="5420084"/>
            <a:ext cx="161925" cy="161925"/>
          </a:xfrm>
          <a:prstGeom prst="rect">
            <a:avLst/>
          </a:prstGeom>
        </p:spPr>
      </p:pic>
      <p:pic>
        <p:nvPicPr>
          <p:cNvPr id="35" name="Picture 34" descr="image.png">
            <a:extLst>
              <a:ext uri="{FF2B5EF4-FFF2-40B4-BE49-F238E27FC236}">
                <a16:creationId xmlns:a16="http://schemas.microsoft.com/office/drawing/2014/main" id="{795CEA00-D906-A23D-E40E-C3D1DD6657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813" y="3431442"/>
            <a:ext cx="142875" cy="161925"/>
          </a:xfrm>
          <a:prstGeom prst="rect">
            <a:avLst/>
          </a:prstGeom>
        </p:spPr>
      </p:pic>
      <p:pic>
        <p:nvPicPr>
          <p:cNvPr id="37" name="Picture 36" descr="image.png">
            <a:extLst>
              <a:ext uri="{FF2B5EF4-FFF2-40B4-BE49-F238E27FC236}">
                <a16:creationId xmlns:a16="http://schemas.microsoft.com/office/drawing/2014/main" id="{DC8647DF-36E2-860F-7272-0BF879FCC0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813" y="4425763"/>
            <a:ext cx="161925" cy="161925"/>
          </a:xfrm>
          <a:prstGeom prst="rect">
            <a:avLst/>
          </a:prstGeom>
        </p:spPr>
      </p:pic>
      <p:pic>
        <p:nvPicPr>
          <p:cNvPr id="39" name="Picture 38" descr="image.png">
            <a:extLst>
              <a:ext uri="{FF2B5EF4-FFF2-40B4-BE49-F238E27FC236}">
                <a16:creationId xmlns:a16="http://schemas.microsoft.com/office/drawing/2014/main" id="{0E167BFC-0C9D-7AD5-36A4-26B8BB26FB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5813" y="5420084"/>
            <a:ext cx="161925" cy="161925"/>
          </a:xfrm>
          <a:prstGeom prst="rect">
            <a:avLst/>
          </a:prstGeom>
        </p:spPr>
      </p:pic>
      <p:sp>
        <p:nvSpPr>
          <p:cNvPr id="41" name="Rounded Rectangle 13">
            <a:extLst>
              <a:ext uri="{FF2B5EF4-FFF2-40B4-BE49-F238E27FC236}">
                <a16:creationId xmlns:a16="http://schemas.microsoft.com/office/drawing/2014/main" id="{762BBD1D-212C-8F1C-BEA1-37F68A4E4EE1}"/>
              </a:ext>
            </a:extLst>
          </p:cNvPr>
          <p:cNvSpPr/>
          <p:nvPr/>
        </p:nvSpPr>
        <p:spPr>
          <a:xfrm>
            <a:off x="614365" y="2309432"/>
            <a:ext cx="10972800" cy="3459212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3" name="Table 42">
            <a:extLst>
              <a:ext uri="{FF2B5EF4-FFF2-40B4-BE49-F238E27FC236}">
                <a16:creationId xmlns:a16="http://schemas.microsoft.com/office/drawing/2014/main" id="{79744B9C-35A2-0D11-DFB9-393D62F59F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6787621"/>
              </p:ext>
            </p:extLst>
          </p:nvPr>
        </p:nvGraphicFramePr>
        <p:xfrm>
          <a:off x="623892" y="2309496"/>
          <a:ext cx="10963273" cy="3459212"/>
        </p:xfrm>
        <a:graphic>
          <a:graphicData uri="http://schemas.openxmlformats.org/drawingml/2006/table">
            <a:tbl>
              <a:tblPr/>
              <a:tblGrid>
                <a:gridCol w="27408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370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853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64803">
                <a:tc>
                  <a:txBody>
                    <a:bodyPr/>
                    <a:lstStyle/>
                    <a:p>
                      <a:pPr algn="l"/>
                      <a:r>
                        <a:rPr sz="1600" b="1" i="0" u="none" dirty="0">
                          <a:solidFill>
                            <a:srgbClr val="F8FAFC"/>
                          </a:solidFill>
                          <a:latin typeface="Plus Jakarta Sans"/>
                        </a:rPr>
                        <a:t>Scale Bottleneck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 i="0" u="none" dirty="0">
                          <a:solidFill>
                            <a:srgbClr val="F8FAFC"/>
                          </a:solidFill>
                          <a:latin typeface="Plus Jakarta Sans"/>
                        </a:rPr>
                        <a:t>Traditional Mechanism Limit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 i="0" u="none" dirty="0">
                          <a:solidFill>
                            <a:srgbClr val="F8FAFC"/>
                          </a:solidFill>
                          <a:latin typeface="Plus Jakarta Sans"/>
                        </a:rPr>
                        <a:t>Impact on Developer / LLM RAG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4803">
                <a:tc>
                  <a:txBody>
                    <a:bodyPr/>
                    <a:lstStyle/>
                    <a:p>
                      <a:pPr algn="l"/>
                      <a:r>
                        <a:rPr sz="1500" b="1" i="0" u="none" dirty="0">
                          <a:solidFill>
                            <a:srgbClr val="EF4444"/>
                          </a:solidFill>
                          <a:latin typeface="Plus Jakarta Sans"/>
                        </a:rPr>
                        <a:t>Context Window Limits</a:t>
                      </a:r>
                    </a:p>
                  </a:txBody>
                  <a:tcPr marL="333375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Whole-repository context ingestion into prompt window (&gt;100k lines).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Prompt Overflow &amp; Latency:</a:t>
                      </a:r>
                      <a:r>
                        <a:rPr sz="1275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 Exceeds LLM token limits; causes high operational cost and slow response times.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4803">
                <a:tc>
                  <a:txBody>
                    <a:bodyPr/>
                    <a:lstStyle/>
                    <a:p>
                      <a:pPr algn="l"/>
                      <a:r>
                        <a:rPr sz="1500" b="1" i="0" u="none" dirty="0">
                          <a:solidFill>
                            <a:srgbClr val="0F172A"/>
                          </a:solidFill>
                          <a:latin typeface="Plus Jakarta Sans"/>
                        </a:rPr>
                        <a:t>Keyword </a:t>
                      </a:r>
                      <a:r>
                        <a:rPr sz="1500" b="1" i="0" u="none" dirty="0" err="1">
                          <a:solidFill>
                            <a:srgbClr val="0F172A"/>
                          </a:solidFill>
                          <a:latin typeface="Plus Jakarta Sans"/>
                        </a:rPr>
                        <a:t>Blindspots</a:t>
                      </a:r>
                      <a:endParaRPr sz="1500" b="1" i="0" u="none" dirty="0">
                        <a:solidFill>
                          <a:srgbClr val="0F172A"/>
                        </a:solidFill>
                        <a:latin typeface="Plus Jakarta Sans"/>
                      </a:endParaRPr>
                    </a:p>
                  </a:txBody>
                  <a:tcPr marL="352425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Regex / BM25 token matching restricted to exact string literals.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Semantic Failure:</a:t>
                      </a:r>
                      <a:r>
                        <a:rPr sz="1275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 Misses underlying logic intent when natural-language queries use different terminology.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4803">
                <a:tc>
                  <a:txBody>
                    <a:bodyPr/>
                    <a:lstStyle/>
                    <a:p>
                      <a:pPr algn="l"/>
                      <a:r>
                        <a:rPr sz="1500" b="1" i="0" u="none" dirty="0">
                          <a:solidFill>
                            <a:srgbClr val="3B82F6"/>
                          </a:solidFill>
                          <a:latin typeface="Plus Jakarta Sans"/>
                        </a:rPr>
                        <a:t>Boundary Loss</a:t>
                      </a:r>
                    </a:p>
                  </a:txBody>
                  <a:tcPr marL="352425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Arbitrary naive chunking based on fixed document lengths.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1" i="0" u="none" dirty="0">
                          <a:solidFill>
                            <a:srgbClr val="334155"/>
                          </a:solidFill>
                          <a:latin typeface="Plus Jakarta Sans"/>
                        </a:rPr>
                        <a:t>Code Structure Corruption:</a:t>
                      </a:r>
                      <a:r>
                        <a:rPr sz="1275" b="0" i="0" u="none" dirty="0">
                          <a:solidFill>
                            <a:srgbClr val="334155"/>
                          </a:solidFill>
                          <a:latin typeface="Plus Jakarta Sans"/>
                        </a:rPr>
                        <a:t> Splits function blocks midway, severing syntax context and variable declarations.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"/>
          <p:cNvSpPr txBox="1">
            <a:spLocks noGrp="1"/>
          </p:cNvSpPr>
          <p:nvPr>
            <p:ph type="title"/>
          </p:nvPr>
        </p:nvSpPr>
        <p:spPr>
          <a:xfrm>
            <a:off x="467727" y="-49262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lang="en-US" b="1" dirty="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Our Solutions &amp; Architecture Diagram</a:t>
            </a:r>
            <a:endParaRPr dirty="0"/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6AEA2953-DDA0-C7FF-5AA0-C192C8A0C42F}"/>
              </a:ext>
            </a:extLst>
          </p:cNvPr>
          <p:cNvSpPr txBox="1"/>
          <p:nvPr/>
        </p:nvSpPr>
        <p:spPr>
          <a:xfrm>
            <a:off x="552450" y="921472"/>
            <a:ext cx="4647106" cy="35394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300" b="1" i="0" u="none" dirty="0">
                <a:solidFill>
                  <a:srgbClr val="0F172A"/>
                </a:solidFill>
                <a:latin typeface="Plus Jakarta Sans"/>
              </a:rPr>
              <a:t>End-to-End System Execution Pipeline</a:t>
            </a:r>
          </a:p>
        </p:txBody>
      </p:sp>
      <p:sp>
        <p:nvSpPr>
          <p:cNvPr id="3" name="Rounded Rectangle 1">
            <a:extLst>
              <a:ext uri="{FF2B5EF4-FFF2-40B4-BE49-F238E27FC236}">
                <a16:creationId xmlns:a16="http://schemas.microsoft.com/office/drawing/2014/main" id="{6C1894DE-C2AA-2706-CE68-4580F61AA6F3}"/>
              </a:ext>
            </a:extLst>
          </p:cNvPr>
          <p:cNvSpPr/>
          <p:nvPr/>
        </p:nvSpPr>
        <p:spPr>
          <a:xfrm>
            <a:off x="552450" y="1508492"/>
            <a:ext cx="11125200" cy="600075"/>
          </a:xfrm>
          <a:prstGeom prst="roundRect">
            <a:avLst>
              <a:gd name="adj" fmla="val 15873"/>
            </a:avLst>
          </a:prstGeom>
          <a:solidFill>
            <a:srgbClr val="F8FAFC"/>
          </a:solidFill>
          <a:ln w="190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2">
            <a:extLst>
              <a:ext uri="{FF2B5EF4-FFF2-40B4-BE49-F238E27FC236}">
                <a16:creationId xmlns:a16="http://schemas.microsoft.com/office/drawing/2014/main" id="{79FD69A9-7ADB-5D06-96A2-6B021A3AE7BC}"/>
              </a:ext>
            </a:extLst>
          </p:cNvPr>
          <p:cNvSpPr/>
          <p:nvPr/>
        </p:nvSpPr>
        <p:spPr>
          <a:xfrm>
            <a:off x="552450" y="2468135"/>
            <a:ext cx="11125200" cy="695325"/>
          </a:xfrm>
          <a:prstGeom prst="roundRect">
            <a:avLst>
              <a:gd name="adj" fmla="val 13698"/>
            </a:avLst>
          </a:prstGeom>
          <a:solidFill>
            <a:srgbClr val="F8FAFC"/>
          </a:solidFill>
          <a:ln w="190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3">
            <a:extLst>
              <a:ext uri="{FF2B5EF4-FFF2-40B4-BE49-F238E27FC236}">
                <a16:creationId xmlns:a16="http://schemas.microsoft.com/office/drawing/2014/main" id="{E7ADDEB3-AA05-21B1-E79E-5A32BBB85B4D}"/>
              </a:ext>
            </a:extLst>
          </p:cNvPr>
          <p:cNvSpPr/>
          <p:nvPr/>
        </p:nvSpPr>
        <p:spPr>
          <a:xfrm>
            <a:off x="552450" y="3558747"/>
            <a:ext cx="11125200" cy="704850"/>
          </a:xfrm>
          <a:prstGeom prst="roundRect">
            <a:avLst>
              <a:gd name="adj" fmla="val 13513"/>
            </a:avLst>
          </a:prstGeom>
          <a:solidFill>
            <a:srgbClr val="F8FAFC"/>
          </a:solidFill>
          <a:ln w="190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4">
            <a:extLst>
              <a:ext uri="{FF2B5EF4-FFF2-40B4-BE49-F238E27FC236}">
                <a16:creationId xmlns:a16="http://schemas.microsoft.com/office/drawing/2014/main" id="{B4E7297F-8180-2F25-A6B7-596081DB9A6C}"/>
              </a:ext>
            </a:extLst>
          </p:cNvPr>
          <p:cNvSpPr/>
          <p:nvPr/>
        </p:nvSpPr>
        <p:spPr>
          <a:xfrm>
            <a:off x="552450" y="4631500"/>
            <a:ext cx="11125200" cy="723900"/>
          </a:xfrm>
          <a:prstGeom prst="roundRect">
            <a:avLst>
              <a:gd name="adj" fmla="val 13157"/>
            </a:avLst>
          </a:prstGeom>
          <a:solidFill>
            <a:srgbClr val="0F172A"/>
          </a:solidFill>
          <a:ln w="1905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5">
            <a:extLst>
              <a:ext uri="{FF2B5EF4-FFF2-40B4-BE49-F238E27FC236}">
                <a16:creationId xmlns:a16="http://schemas.microsoft.com/office/drawing/2014/main" id="{01319835-CE31-6A7E-D7F2-E45DB667DEEE}"/>
              </a:ext>
            </a:extLst>
          </p:cNvPr>
          <p:cNvSpPr/>
          <p:nvPr/>
        </p:nvSpPr>
        <p:spPr>
          <a:xfrm>
            <a:off x="552450" y="5723303"/>
            <a:ext cx="11125200" cy="704850"/>
          </a:xfrm>
          <a:prstGeom prst="roundRect">
            <a:avLst>
              <a:gd name="adj" fmla="val 13513"/>
            </a:avLst>
          </a:prstGeom>
          <a:solidFill>
            <a:srgbClr val="F8FAFC"/>
          </a:solidFill>
          <a:ln w="1905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6">
            <a:extLst>
              <a:ext uri="{FF2B5EF4-FFF2-40B4-BE49-F238E27FC236}">
                <a16:creationId xmlns:a16="http://schemas.microsoft.com/office/drawing/2014/main" id="{AADB11EF-CF61-C454-80BE-BB12A11689FB}"/>
              </a:ext>
            </a:extLst>
          </p:cNvPr>
          <p:cNvSpPr/>
          <p:nvPr/>
        </p:nvSpPr>
        <p:spPr>
          <a:xfrm>
            <a:off x="3095922" y="3673047"/>
            <a:ext cx="8410277" cy="4762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084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7">
            <a:extLst>
              <a:ext uri="{FF2B5EF4-FFF2-40B4-BE49-F238E27FC236}">
                <a16:creationId xmlns:a16="http://schemas.microsoft.com/office/drawing/2014/main" id="{74E33A2B-3E48-41DB-1964-311DD0A2E5A9}"/>
              </a:ext>
            </a:extLst>
          </p:cNvPr>
          <p:cNvSpPr/>
          <p:nvPr/>
        </p:nvSpPr>
        <p:spPr>
          <a:xfrm>
            <a:off x="3060453" y="4745800"/>
            <a:ext cx="8410277" cy="495300"/>
          </a:xfrm>
          <a:prstGeom prst="roundRect">
            <a:avLst>
              <a:gd name="adj" fmla="val 11538"/>
            </a:avLst>
          </a:prstGeom>
          <a:solidFill>
            <a:srgbClr val="13283F"/>
          </a:solidFill>
          <a:ln w="9525">
            <a:solidFill>
              <a:srgbClr val="1B49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8">
            <a:extLst>
              <a:ext uri="{FF2B5EF4-FFF2-40B4-BE49-F238E27FC236}">
                <a16:creationId xmlns:a16="http://schemas.microsoft.com/office/drawing/2014/main" id="{AFE280C7-6A7D-D439-C984-C467CD66BDC6}"/>
              </a:ext>
            </a:extLst>
          </p:cNvPr>
          <p:cNvSpPr/>
          <p:nvPr/>
        </p:nvSpPr>
        <p:spPr>
          <a:xfrm>
            <a:off x="742950" y="1716970"/>
            <a:ext cx="619125" cy="228600"/>
          </a:xfrm>
          <a:prstGeom prst="roundRect">
            <a:avLst>
              <a:gd name="adj" fmla="val 16666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9">
            <a:extLst>
              <a:ext uri="{FF2B5EF4-FFF2-40B4-BE49-F238E27FC236}">
                <a16:creationId xmlns:a16="http://schemas.microsoft.com/office/drawing/2014/main" id="{994881D2-A540-6CDD-3830-5A0CB3424390}"/>
              </a:ext>
            </a:extLst>
          </p:cNvPr>
          <p:cNvSpPr/>
          <p:nvPr/>
        </p:nvSpPr>
        <p:spPr>
          <a:xfrm>
            <a:off x="3095922" y="1622792"/>
            <a:ext cx="4128938" cy="371475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8" name="Rounded Rectangle 10">
            <a:extLst>
              <a:ext uri="{FF2B5EF4-FFF2-40B4-BE49-F238E27FC236}">
                <a16:creationId xmlns:a16="http://schemas.microsoft.com/office/drawing/2014/main" id="{BCCA4BC9-DFE3-B665-E926-BCA2F83D64AD}"/>
              </a:ext>
            </a:extLst>
          </p:cNvPr>
          <p:cNvSpPr/>
          <p:nvPr/>
        </p:nvSpPr>
        <p:spPr>
          <a:xfrm>
            <a:off x="7377261" y="1622792"/>
            <a:ext cx="4128938" cy="371475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9525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11">
            <a:extLst>
              <a:ext uri="{FF2B5EF4-FFF2-40B4-BE49-F238E27FC236}">
                <a16:creationId xmlns:a16="http://schemas.microsoft.com/office/drawing/2014/main" id="{398C3150-E109-9F85-E30A-DA9B24069D89}"/>
              </a:ext>
            </a:extLst>
          </p:cNvPr>
          <p:cNvSpPr/>
          <p:nvPr/>
        </p:nvSpPr>
        <p:spPr>
          <a:xfrm>
            <a:off x="723900" y="2701498"/>
            <a:ext cx="619125" cy="228600"/>
          </a:xfrm>
          <a:prstGeom prst="roundRect">
            <a:avLst>
              <a:gd name="adj" fmla="val 16666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12">
            <a:extLst>
              <a:ext uri="{FF2B5EF4-FFF2-40B4-BE49-F238E27FC236}">
                <a16:creationId xmlns:a16="http://schemas.microsoft.com/office/drawing/2014/main" id="{13F40231-3633-4173-B619-5691A44975B5}"/>
              </a:ext>
            </a:extLst>
          </p:cNvPr>
          <p:cNvSpPr/>
          <p:nvPr/>
        </p:nvSpPr>
        <p:spPr>
          <a:xfrm>
            <a:off x="3095922" y="2582435"/>
            <a:ext cx="4128938" cy="466725"/>
          </a:xfrm>
          <a:prstGeom prst="roundRect">
            <a:avLst>
              <a:gd name="adj" fmla="val 12244"/>
            </a:avLst>
          </a:prstGeom>
          <a:solidFill>
            <a:srgbClr val="FFFFFF"/>
          </a:solidFill>
          <a:ln w="9525">
            <a:solidFill>
              <a:srgbClr val="93C5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13">
            <a:extLst>
              <a:ext uri="{FF2B5EF4-FFF2-40B4-BE49-F238E27FC236}">
                <a16:creationId xmlns:a16="http://schemas.microsoft.com/office/drawing/2014/main" id="{789450FE-07E8-0FEF-B14E-EA12FF654EEE}"/>
              </a:ext>
            </a:extLst>
          </p:cNvPr>
          <p:cNvSpPr/>
          <p:nvPr/>
        </p:nvSpPr>
        <p:spPr>
          <a:xfrm>
            <a:off x="7377261" y="2582435"/>
            <a:ext cx="4128938" cy="466725"/>
          </a:xfrm>
          <a:prstGeom prst="roundRect">
            <a:avLst>
              <a:gd name="adj" fmla="val 12244"/>
            </a:avLst>
          </a:prstGeom>
          <a:solidFill>
            <a:srgbClr val="FFFFFF"/>
          </a:solidFill>
          <a:ln w="9525">
            <a:solidFill>
              <a:srgbClr val="6EE7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14">
            <a:extLst>
              <a:ext uri="{FF2B5EF4-FFF2-40B4-BE49-F238E27FC236}">
                <a16:creationId xmlns:a16="http://schemas.microsoft.com/office/drawing/2014/main" id="{7D5795BD-2431-337B-813E-7E615F6E0692}"/>
              </a:ext>
            </a:extLst>
          </p:cNvPr>
          <p:cNvSpPr/>
          <p:nvPr/>
        </p:nvSpPr>
        <p:spPr>
          <a:xfrm>
            <a:off x="771524" y="3813005"/>
            <a:ext cx="619125" cy="228600"/>
          </a:xfrm>
          <a:prstGeom prst="roundRect">
            <a:avLst>
              <a:gd name="adj" fmla="val 16666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15">
            <a:extLst>
              <a:ext uri="{FF2B5EF4-FFF2-40B4-BE49-F238E27FC236}">
                <a16:creationId xmlns:a16="http://schemas.microsoft.com/office/drawing/2014/main" id="{28E844CF-478E-8684-2A45-471DF4D6E3DB}"/>
              </a:ext>
            </a:extLst>
          </p:cNvPr>
          <p:cNvSpPr/>
          <p:nvPr/>
        </p:nvSpPr>
        <p:spPr>
          <a:xfrm>
            <a:off x="8696324" y="3798982"/>
            <a:ext cx="2562225" cy="228600"/>
          </a:xfrm>
          <a:prstGeom prst="roundRect">
            <a:avLst>
              <a:gd name="adj" fmla="val 25000"/>
            </a:avLst>
          </a:prstGeom>
          <a:solidFill>
            <a:srgbClr val="F3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16">
            <a:extLst>
              <a:ext uri="{FF2B5EF4-FFF2-40B4-BE49-F238E27FC236}">
                <a16:creationId xmlns:a16="http://schemas.microsoft.com/office/drawing/2014/main" id="{8E179B20-875A-8AB9-C528-258B26D96519}"/>
              </a:ext>
            </a:extLst>
          </p:cNvPr>
          <p:cNvSpPr/>
          <p:nvPr/>
        </p:nvSpPr>
        <p:spPr>
          <a:xfrm>
            <a:off x="723900" y="4879150"/>
            <a:ext cx="619125" cy="228600"/>
          </a:xfrm>
          <a:prstGeom prst="roundRect">
            <a:avLst>
              <a:gd name="adj" fmla="val 16666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ounded Rectangle 17">
            <a:extLst>
              <a:ext uri="{FF2B5EF4-FFF2-40B4-BE49-F238E27FC236}">
                <a16:creationId xmlns:a16="http://schemas.microsoft.com/office/drawing/2014/main" id="{A53DCDC5-C773-AAD1-DCDB-D9D7BD700754}"/>
              </a:ext>
            </a:extLst>
          </p:cNvPr>
          <p:cNvSpPr/>
          <p:nvPr/>
        </p:nvSpPr>
        <p:spPr>
          <a:xfrm>
            <a:off x="8572500" y="4860545"/>
            <a:ext cx="2809875" cy="247650"/>
          </a:xfrm>
          <a:prstGeom prst="roundRect">
            <a:avLst>
              <a:gd name="adj" fmla="val 23076"/>
            </a:avLst>
          </a:prstGeom>
          <a:solidFill>
            <a:srgbClr val="1E293B"/>
          </a:solidFill>
          <a:ln w="9525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ounded Rectangle 18">
            <a:extLst>
              <a:ext uri="{FF2B5EF4-FFF2-40B4-BE49-F238E27FC236}">
                <a16:creationId xmlns:a16="http://schemas.microsoft.com/office/drawing/2014/main" id="{D4E14BED-3824-DCF9-D7AF-24FF3211AB25}"/>
              </a:ext>
            </a:extLst>
          </p:cNvPr>
          <p:cNvSpPr/>
          <p:nvPr/>
        </p:nvSpPr>
        <p:spPr>
          <a:xfrm>
            <a:off x="736054" y="5987472"/>
            <a:ext cx="619125" cy="228600"/>
          </a:xfrm>
          <a:prstGeom prst="roundRect">
            <a:avLst>
              <a:gd name="adj" fmla="val 16666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ounded Rectangle 19">
            <a:extLst>
              <a:ext uri="{FF2B5EF4-FFF2-40B4-BE49-F238E27FC236}">
                <a16:creationId xmlns:a16="http://schemas.microsoft.com/office/drawing/2014/main" id="{53B01926-999F-84F2-60FD-4E8D34A6E65F}"/>
              </a:ext>
            </a:extLst>
          </p:cNvPr>
          <p:cNvSpPr/>
          <p:nvPr/>
        </p:nvSpPr>
        <p:spPr>
          <a:xfrm>
            <a:off x="3095922" y="5837603"/>
            <a:ext cx="2031206" cy="4762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ounded Rectangle 20">
            <a:extLst>
              <a:ext uri="{FF2B5EF4-FFF2-40B4-BE49-F238E27FC236}">
                <a16:creationId xmlns:a16="http://schemas.microsoft.com/office/drawing/2014/main" id="{6C303DA4-D7C2-C1DE-C68D-09A8760C6FAD}"/>
              </a:ext>
            </a:extLst>
          </p:cNvPr>
          <p:cNvSpPr/>
          <p:nvPr/>
        </p:nvSpPr>
        <p:spPr>
          <a:xfrm>
            <a:off x="5222378" y="5837603"/>
            <a:ext cx="2031206" cy="4762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ounded Rectangle 21">
            <a:extLst>
              <a:ext uri="{FF2B5EF4-FFF2-40B4-BE49-F238E27FC236}">
                <a16:creationId xmlns:a16="http://schemas.microsoft.com/office/drawing/2014/main" id="{315B7344-A538-0AAF-1142-5B08ADBA9D24}"/>
              </a:ext>
            </a:extLst>
          </p:cNvPr>
          <p:cNvSpPr/>
          <p:nvPr/>
        </p:nvSpPr>
        <p:spPr>
          <a:xfrm>
            <a:off x="7348835" y="5837603"/>
            <a:ext cx="2031206" cy="4762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ounded Rectangle 22">
            <a:extLst>
              <a:ext uri="{FF2B5EF4-FFF2-40B4-BE49-F238E27FC236}">
                <a16:creationId xmlns:a16="http://schemas.microsoft.com/office/drawing/2014/main" id="{CE370E1B-3F7B-EA91-4B4F-517F920A6EC5}"/>
              </a:ext>
            </a:extLst>
          </p:cNvPr>
          <p:cNvSpPr/>
          <p:nvPr/>
        </p:nvSpPr>
        <p:spPr>
          <a:xfrm>
            <a:off x="9475291" y="5837603"/>
            <a:ext cx="2031206" cy="4762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5" name="Picture 64" descr="image.png">
            <a:extLst>
              <a:ext uri="{FF2B5EF4-FFF2-40B4-BE49-F238E27FC236}">
                <a16:creationId xmlns:a16="http://schemas.microsoft.com/office/drawing/2014/main" id="{64CE5000-62CE-87CE-27AD-0114F6A361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2187" y="2160954"/>
            <a:ext cx="85725" cy="114300"/>
          </a:xfrm>
          <a:prstGeom prst="rect">
            <a:avLst/>
          </a:prstGeom>
        </p:spPr>
      </p:pic>
      <p:pic>
        <p:nvPicPr>
          <p:cNvPr id="69" name="Picture 68" descr="image.png">
            <a:extLst>
              <a:ext uri="{FF2B5EF4-FFF2-40B4-BE49-F238E27FC236}">
                <a16:creationId xmlns:a16="http://schemas.microsoft.com/office/drawing/2014/main" id="{B2BD687E-E1AA-DEBC-4F3D-470721CCA7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2187" y="3365866"/>
            <a:ext cx="85725" cy="114300"/>
          </a:xfrm>
          <a:prstGeom prst="rect">
            <a:avLst/>
          </a:prstGeom>
        </p:spPr>
      </p:pic>
      <p:pic>
        <p:nvPicPr>
          <p:cNvPr id="73" name="Picture 72" descr="image.png">
            <a:extLst>
              <a:ext uri="{FF2B5EF4-FFF2-40B4-BE49-F238E27FC236}">
                <a16:creationId xmlns:a16="http://schemas.microsoft.com/office/drawing/2014/main" id="{B05E7555-AAA0-48C4-8D9E-0D398DE52E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2762" y="4415997"/>
            <a:ext cx="85725" cy="114300"/>
          </a:xfrm>
          <a:prstGeom prst="rect">
            <a:avLst/>
          </a:prstGeom>
        </p:spPr>
      </p:pic>
      <p:pic>
        <p:nvPicPr>
          <p:cNvPr id="77" name="Picture 76" descr="image.png">
            <a:extLst>
              <a:ext uri="{FF2B5EF4-FFF2-40B4-BE49-F238E27FC236}">
                <a16:creationId xmlns:a16="http://schemas.microsoft.com/office/drawing/2014/main" id="{FFE6A4C5-FB95-F50A-F89E-0FEB48FFB8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2762" y="5507800"/>
            <a:ext cx="85725" cy="114300"/>
          </a:xfrm>
          <a:prstGeom prst="rect">
            <a:avLst/>
          </a:prstGeom>
        </p:spPr>
      </p:pic>
      <p:pic>
        <p:nvPicPr>
          <p:cNvPr id="81" name="Picture 80" descr="image.png">
            <a:extLst>
              <a:ext uri="{FF2B5EF4-FFF2-40B4-BE49-F238E27FC236}">
                <a16:creationId xmlns:a16="http://schemas.microsoft.com/office/drawing/2014/main" id="{7A3CF96E-F29C-0904-6FBB-8A001054BEF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59138" y="5951903"/>
            <a:ext cx="104775" cy="133350"/>
          </a:xfrm>
          <a:prstGeom prst="rect">
            <a:avLst/>
          </a:prstGeom>
        </p:spPr>
      </p:pic>
      <p:pic>
        <p:nvPicPr>
          <p:cNvPr id="83" name="Picture 82" descr="image.png">
            <a:extLst>
              <a:ext uri="{FF2B5EF4-FFF2-40B4-BE49-F238E27FC236}">
                <a16:creationId xmlns:a16="http://schemas.microsoft.com/office/drawing/2014/main" id="{A84CFD4C-9ACF-779A-2D53-4BAAC08382A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1307" y="5951903"/>
            <a:ext cx="133350" cy="133350"/>
          </a:xfrm>
          <a:prstGeom prst="rect">
            <a:avLst/>
          </a:prstGeom>
        </p:spPr>
      </p:pic>
      <p:pic>
        <p:nvPicPr>
          <p:cNvPr id="87" name="Picture 86" descr="image.png">
            <a:extLst>
              <a:ext uri="{FF2B5EF4-FFF2-40B4-BE49-F238E27FC236}">
                <a16:creationId xmlns:a16="http://schemas.microsoft.com/office/drawing/2014/main" id="{86594310-F8A2-543B-9471-597B80AF7AC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78713" y="5951903"/>
            <a:ext cx="171450" cy="133350"/>
          </a:xfrm>
          <a:prstGeom prst="rect">
            <a:avLst/>
          </a:prstGeom>
        </p:spPr>
      </p:pic>
      <p:pic>
        <p:nvPicPr>
          <p:cNvPr id="90" name="Picture 89" descr="image.png">
            <a:extLst>
              <a:ext uri="{FF2B5EF4-FFF2-40B4-BE49-F238E27FC236}">
                <a16:creationId xmlns:a16="http://schemas.microsoft.com/office/drawing/2014/main" id="{C39186E4-0369-CCF3-8A9E-B94ADB35630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24219" y="5951903"/>
            <a:ext cx="133350" cy="133350"/>
          </a:xfrm>
          <a:prstGeom prst="rect">
            <a:avLst/>
          </a:prstGeom>
        </p:spPr>
      </p:pic>
      <p:sp>
        <p:nvSpPr>
          <p:cNvPr id="97" name="TextBox 96">
            <a:extLst>
              <a:ext uri="{FF2B5EF4-FFF2-40B4-BE49-F238E27FC236}">
                <a16:creationId xmlns:a16="http://schemas.microsoft.com/office/drawing/2014/main" id="{25C6E85B-5CEB-3859-6E51-887F6F8B733B}"/>
              </a:ext>
            </a:extLst>
          </p:cNvPr>
          <p:cNvSpPr txBox="1"/>
          <p:nvPr/>
        </p:nvSpPr>
        <p:spPr>
          <a:xfrm>
            <a:off x="800100" y="1732329"/>
            <a:ext cx="561975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 dirty="0">
                <a:solidFill>
                  <a:srgbClr val="FFFFFF"/>
                </a:solidFill>
                <a:latin typeface="JetBrains Mono"/>
              </a:rPr>
              <a:t>STAGE 1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F4DB5C60-38B2-E410-6551-DFA0FFC31FED}"/>
              </a:ext>
            </a:extLst>
          </p:cNvPr>
          <p:cNvSpPr txBox="1"/>
          <p:nvPr/>
        </p:nvSpPr>
        <p:spPr>
          <a:xfrm>
            <a:off x="1457325" y="1718042"/>
            <a:ext cx="1208664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 dirty="0">
                <a:solidFill>
                  <a:srgbClr val="0F172A"/>
                </a:solidFill>
                <a:latin typeface="Plus Jakarta Sans"/>
              </a:rPr>
              <a:t>Input Ingestion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4446B1B7-26C9-0EDC-843E-7D8B109B67D9}"/>
              </a:ext>
            </a:extLst>
          </p:cNvPr>
          <p:cNvSpPr txBox="1"/>
          <p:nvPr/>
        </p:nvSpPr>
        <p:spPr>
          <a:xfrm>
            <a:off x="3211667" y="1746631"/>
            <a:ext cx="3995588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u="none" dirty="0">
                <a:solidFill>
                  <a:srgbClr val="1E3A8A"/>
                </a:solidFill>
                <a:latin typeface="Plus Jakarta Sans"/>
              </a:rPr>
              <a:t>NL User Question:  </a:t>
            </a:r>
            <a:r>
              <a:rPr sz="1100" b="1" i="0" u="none" dirty="0">
                <a:solidFill>
                  <a:srgbClr val="2563EB"/>
                </a:solidFill>
                <a:latin typeface="Plus Jakarta Sans"/>
              </a:rPr>
              <a:t>"How is input preprocessed?"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8D69E3E1-725A-ECD0-1A83-8D97B915E25E}"/>
              </a:ext>
            </a:extLst>
          </p:cNvPr>
          <p:cNvSpPr txBox="1"/>
          <p:nvPr/>
        </p:nvSpPr>
        <p:spPr>
          <a:xfrm>
            <a:off x="7477497" y="1743105"/>
            <a:ext cx="3995588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u="none" dirty="0">
                <a:solidFill>
                  <a:srgbClr val="064E3B"/>
                </a:solidFill>
                <a:latin typeface="Plus Jakarta Sans"/>
              </a:rPr>
              <a:t>Source Codebase Files:  </a:t>
            </a:r>
            <a:r>
              <a:rPr sz="1100" b="1" i="0" u="none" dirty="0">
                <a:solidFill>
                  <a:srgbClr val="059669"/>
                </a:solidFill>
                <a:latin typeface="Plus Jakarta Sans"/>
              </a:rPr>
              <a:t>JS, Python, C (Excludes </a:t>
            </a:r>
            <a:r>
              <a:rPr sz="1100" b="1" i="0" u="none" dirty="0" err="1">
                <a:solidFill>
                  <a:srgbClr val="059669"/>
                </a:solidFill>
                <a:latin typeface="Plus Jakarta Sans"/>
              </a:rPr>
              <a:t>node_modules</a:t>
            </a:r>
            <a:r>
              <a:rPr sz="1100" b="1" i="0" u="none" dirty="0">
                <a:solidFill>
                  <a:srgbClr val="059669"/>
                </a:solidFill>
                <a:latin typeface="Plus Jakarta Sans"/>
              </a:rPr>
              <a:t>)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CCD328F0-1117-99A9-113B-779A7FD2872D}"/>
              </a:ext>
            </a:extLst>
          </p:cNvPr>
          <p:cNvSpPr txBox="1"/>
          <p:nvPr/>
        </p:nvSpPr>
        <p:spPr>
          <a:xfrm>
            <a:off x="764630" y="2729299"/>
            <a:ext cx="561975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 dirty="0">
                <a:solidFill>
                  <a:srgbClr val="FFFFFF"/>
                </a:solidFill>
                <a:latin typeface="JetBrains Mono"/>
              </a:rPr>
              <a:t>STAGE 2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9A0DBB6A-ECB3-5B42-A531-73F915E0A762}"/>
              </a:ext>
            </a:extLst>
          </p:cNvPr>
          <p:cNvSpPr txBox="1"/>
          <p:nvPr/>
        </p:nvSpPr>
        <p:spPr>
          <a:xfrm>
            <a:off x="1399561" y="2699266"/>
            <a:ext cx="1599797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 dirty="0">
                <a:solidFill>
                  <a:srgbClr val="0F172A"/>
                </a:solidFill>
                <a:latin typeface="Plus Jakarta Sans"/>
              </a:rPr>
              <a:t>Preprocess &amp; Chunk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D46991C2-C650-69E6-E417-E7F4C5B01ECF}"/>
              </a:ext>
            </a:extLst>
          </p:cNvPr>
          <p:cNvSpPr txBox="1"/>
          <p:nvPr/>
        </p:nvSpPr>
        <p:spPr>
          <a:xfrm>
            <a:off x="800100" y="3834972"/>
            <a:ext cx="561975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 dirty="0">
                <a:solidFill>
                  <a:srgbClr val="FFFFFF"/>
                </a:solidFill>
                <a:latin typeface="JetBrains Mono"/>
              </a:rPr>
              <a:t>STAGE 3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DE2B65AC-EE9F-2E0A-5254-209B134A3AA6}"/>
              </a:ext>
            </a:extLst>
          </p:cNvPr>
          <p:cNvSpPr txBox="1"/>
          <p:nvPr/>
        </p:nvSpPr>
        <p:spPr>
          <a:xfrm>
            <a:off x="1457325" y="3788763"/>
            <a:ext cx="1298432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 dirty="0">
                <a:solidFill>
                  <a:srgbClr val="0F172A"/>
                </a:solidFill>
                <a:latin typeface="Plus Jakarta Sans"/>
              </a:rPr>
              <a:t>Vector Encoding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3378AC48-E055-19AB-8D61-E5D14D3DE141}"/>
              </a:ext>
            </a:extLst>
          </p:cNvPr>
          <p:cNvSpPr txBox="1"/>
          <p:nvPr/>
        </p:nvSpPr>
        <p:spPr>
          <a:xfrm>
            <a:off x="8934450" y="3834972"/>
            <a:ext cx="24288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u="none" dirty="0">
                <a:solidFill>
                  <a:srgbClr val="6B21A8"/>
                </a:solidFill>
                <a:latin typeface="JetBrains Mono"/>
              </a:rPr>
              <a:t>384-Dimensional Dense Vector Matrix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44043CCF-B69D-8F70-EDE7-27A626EF8E94}"/>
              </a:ext>
            </a:extLst>
          </p:cNvPr>
          <p:cNvSpPr txBox="1"/>
          <p:nvPr/>
        </p:nvSpPr>
        <p:spPr>
          <a:xfrm>
            <a:off x="764631" y="4917250"/>
            <a:ext cx="561975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 dirty="0">
                <a:solidFill>
                  <a:srgbClr val="0F172A"/>
                </a:solidFill>
                <a:latin typeface="JetBrains Mono"/>
              </a:rPr>
              <a:t>STAGE 4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98F05EB2-8990-D7E9-7F5E-60B8060F4560}"/>
              </a:ext>
            </a:extLst>
          </p:cNvPr>
          <p:cNvSpPr txBox="1"/>
          <p:nvPr/>
        </p:nvSpPr>
        <p:spPr>
          <a:xfrm>
            <a:off x="1421856" y="4902963"/>
            <a:ext cx="1330492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 dirty="0">
                <a:solidFill>
                  <a:srgbClr val="FFFFFF"/>
                </a:solidFill>
                <a:latin typeface="Plus Jakarta Sans"/>
              </a:rPr>
              <a:t>Matching Engine</a:t>
            </a: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F0D2BBD0-45EA-4BB8-F86A-43F44080F3BD}"/>
              </a:ext>
            </a:extLst>
          </p:cNvPr>
          <p:cNvSpPr txBox="1"/>
          <p:nvPr/>
        </p:nvSpPr>
        <p:spPr>
          <a:xfrm>
            <a:off x="8667750" y="4907725"/>
            <a:ext cx="271462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u="none" dirty="0">
                <a:solidFill>
                  <a:srgbClr val="34D399"/>
                </a:solidFill>
                <a:latin typeface="JetBrains Mono"/>
              </a:rPr>
              <a:t>Zero GPU Hardware Overhead (CPU Target)</a:t>
            </a: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FD953259-D558-1615-A1C2-4BE2189415F9}"/>
              </a:ext>
            </a:extLst>
          </p:cNvPr>
          <p:cNvSpPr txBox="1"/>
          <p:nvPr/>
        </p:nvSpPr>
        <p:spPr>
          <a:xfrm>
            <a:off x="800100" y="5999528"/>
            <a:ext cx="561975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 dirty="0">
                <a:solidFill>
                  <a:srgbClr val="F8FAFC"/>
                </a:solidFill>
                <a:latin typeface="JetBrains Mono"/>
              </a:rPr>
              <a:t>STAGE 5</a:t>
            </a: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D036CCDA-0229-D177-1DCE-D6664AB11C2D}"/>
              </a:ext>
            </a:extLst>
          </p:cNvPr>
          <p:cNvSpPr txBox="1"/>
          <p:nvPr/>
        </p:nvSpPr>
        <p:spPr>
          <a:xfrm>
            <a:off x="1457325" y="5985240"/>
            <a:ext cx="1290418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 dirty="0">
                <a:solidFill>
                  <a:srgbClr val="0F172A"/>
                </a:solidFill>
                <a:latin typeface="Plus Jakarta Sans"/>
              </a:rPr>
              <a:t>Ranked Outputs</a:t>
            </a: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2E52A676-2E45-AD22-9EC6-2DF8C92F7C85}"/>
              </a:ext>
            </a:extLst>
          </p:cNvPr>
          <p:cNvSpPr txBox="1"/>
          <p:nvPr/>
        </p:nvSpPr>
        <p:spPr>
          <a:xfrm>
            <a:off x="3219747" y="2668160"/>
            <a:ext cx="1564531" cy="1692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00" b="1" i="0" u="none" dirty="0">
                <a:solidFill>
                  <a:srgbClr val="1E3A8A"/>
                </a:solidFill>
                <a:latin typeface="Plus Jakarta Sans"/>
              </a:rPr>
              <a:t>Query Normalization Hook</a:t>
            </a: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03D4AD84-5585-5929-B698-25FED9139A19}"/>
              </a:ext>
            </a:extLst>
          </p:cNvPr>
          <p:cNvSpPr txBox="1"/>
          <p:nvPr/>
        </p:nvSpPr>
        <p:spPr>
          <a:xfrm>
            <a:off x="3219747" y="2847160"/>
            <a:ext cx="485161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 dirty="0">
                <a:solidFill>
                  <a:srgbClr val="475569"/>
                </a:solidFill>
                <a:latin typeface="Plus Jakarta Sans"/>
              </a:rPr>
              <a:t>Intent Parsing &amp; Text Cleaning</a:t>
            </a: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6EA995E7-24A3-2F9F-1AB7-5E0EB544A39A}"/>
              </a:ext>
            </a:extLst>
          </p:cNvPr>
          <p:cNvSpPr txBox="1"/>
          <p:nvPr/>
        </p:nvSpPr>
        <p:spPr>
          <a:xfrm>
            <a:off x="3219747" y="3758772"/>
            <a:ext cx="1708801" cy="1692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00" b="1" i="0" u="none" dirty="0">
                <a:solidFill>
                  <a:srgbClr val="581C87"/>
                </a:solidFill>
                <a:latin typeface="Plus Jakarta Sans"/>
              </a:rPr>
              <a:t>Sentence Transformer Model</a:t>
            </a: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B87E4975-8B95-6499-A7EC-C55A1489778C}"/>
              </a:ext>
            </a:extLst>
          </p:cNvPr>
          <p:cNvSpPr txBox="1"/>
          <p:nvPr/>
        </p:nvSpPr>
        <p:spPr>
          <a:xfrm>
            <a:off x="3219747" y="3911172"/>
            <a:ext cx="2166937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7E22CE"/>
                </a:solidFill>
                <a:latin typeface="JetBrains Mono"/>
              </a:rPr>
              <a:t>BAAI/bge-small-en-v1.5</a:t>
            </a:r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87D6B038-08FF-C0B4-ECF0-90E63C6F4279}"/>
              </a:ext>
            </a:extLst>
          </p:cNvPr>
          <p:cNvSpPr txBox="1"/>
          <p:nvPr/>
        </p:nvSpPr>
        <p:spPr>
          <a:xfrm>
            <a:off x="3219747" y="4831525"/>
            <a:ext cx="1825821" cy="1692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00" b="1" i="0" u="none" dirty="0">
                <a:solidFill>
                  <a:srgbClr val="FFFFFF"/>
                </a:solidFill>
                <a:latin typeface="Plus Jakarta Sans"/>
              </a:rPr>
              <a:t>Cosine Similarity Matrix Search</a:t>
            </a:r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FD4E8FCD-EE8A-5758-C264-35BCDB353CE6}"/>
              </a:ext>
            </a:extLst>
          </p:cNvPr>
          <p:cNvSpPr txBox="1"/>
          <p:nvPr/>
        </p:nvSpPr>
        <p:spPr>
          <a:xfrm>
            <a:off x="3219747" y="5002975"/>
            <a:ext cx="2547937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38BDF8"/>
                </a:solidFill>
                <a:latin typeface="JetBrains Mono"/>
              </a:rPr>
              <a:t>NumPy Normalized Dot Product</a:t>
            </a: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0F76A97D-BAAE-543E-23B8-3A5FFA19EBF1}"/>
              </a:ext>
            </a:extLst>
          </p:cNvPr>
          <p:cNvSpPr txBox="1"/>
          <p:nvPr/>
        </p:nvSpPr>
        <p:spPr>
          <a:xfrm>
            <a:off x="3532039" y="6104303"/>
            <a:ext cx="1158972" cy="1692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en-IN" sz="1100" b="1" i="0" u="none" dirty="0">
                <a:solidFill>
                  <a:srgbClr val="0F172A"/>
                </a:solidFill>
                <a:latin typeface="Plus Jakarta Sans"/>
              </a:rPr>
              <a:t>1. Relative File Path</a:t>
            </a:r>
            <a:endParaRPr sz="1100" b="1" i="0" u="none" dirty="0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CAD31E52-73F2-4A76-410D-085505E176B3}"/>
              </a:ext>
            </a:extLst>
          </p:cNvPr>
          <p:cNvSpPr txBox="1"/>
          <p:nvPr/>
        </p:nvSpPr>
        <p:spPr>
          <a:xfrm>
            <a:off x="5687349" y="6104303"/>
            <a:ext cx="1101264" cy="1692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i="0" u="none" dirty="0">
                <a:solidFill>
                  <a:srgbClr val="0F172A"/>
                </a:solidFill>
                <a:latin typeface="Plus Jakarta Sans"/>
              </a:rPr>
              <a:t>2. Start / End Lines</a:t>
            </a:r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DD23802B-F227-9ECD-97E3-10228188B48A}"/>
              </a:ext>
            </a:extLst>
          </p:cNvPr>
          <p:cNvSpPr txBox="1"/>
          <p:nvPr/>
        </p:nvSpPr>
        <p:spPr>
          <a:xfrm>
            <a:off x="7730449" y="6104303"/>
            <a:ext cx="1267976" cy="1692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i="0" u="none" dirty="0">
                <a:solidFill>
                  <a:srgbClr val="0F172A"/>
                </a:solidFill>
                <a:latin typeface="Plus Jakarta Sans"/>
              </a:rPr>
              <a:t>3. Code Snippet Block</a:t>
            </a: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5570D307-1DAD-C120-0039-641A048A8FFE}"/>
              </a:ext>
            </a:extLst>
          </p:cNvPr>
          <p:cNvSpPr txBox="1"/>
          <p:nvPr/>
        </p:nvSpPr>
        <p:spPr>
          <a:xfrm>
            <a:off x="9913812" y="6104303"/>
            <a:ext cx="1154162" cy="1692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i="0" u="none" dirty="0">
                <a:solidFill>
                  <a:srgbClr val="0F172A"/>
                </a:solidFill>
                <a:latin typeface="Plus Jakarta Sans"/>
              </a:rPr>
              <a:t>4. Confidence Score</a:t>
            </a:r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1CF146C9-443F-4F91-1C96-5F9198AF5A3C}"/>
              </a:ext>
            </a:extLst>
          </p:cNvPr>
          <p:cNvSpPr txBox="1"/>
          <p:nvPr/>
        </p:nvSpPr>
        <p:spPr>
          <a:xfrm>
            <a:off x="7433797" y="2662653"/>
            <a:ext cx="2135200" cy="1692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00" b="1" i="0" u="none" dirty="0">
                <a:solidFill>
                  <a:srgbClr val="064E3B"/>
                </a:solidFill>
                <a:latin typeface="Plus Jakarta Sans"/>
              </a:rPr>
              <a:t>30-Line Windowing &amp; Identifier Split</a:t>
            </a:r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04569D60-FD2F-50BF-0334-102A4A7F783D}"/>
              </a:ext>
            </a:extLst>
          </p:cNvPr>
          <p:cNvSpPr txBox="1"/>
          <p:nvPr/>
        </p:nvSpPr>
        <p:spPr>
          <a:xfrm>
            <a:off x="7482037" y="2821780"/>
            <a:ext cx="4709963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 dirty="0">
                <a:solidFill>
                  <a:srgbClr val="475569"/>
                </a:solidFill>
                <a:latin typeface="Plus Jakarta Sans"/>
              </a:rPr>
              <a:t>15-Stride Overlap • </a:t>
            </a:r>
            <a:r>
              <a:rPr sz="900" b="0" i="0" u="none" dirty="0" err="1">
                <a:solidFill>
                  <a:srgbClr val="475569"/>
                </a:solidFill>
                <a:latin typeface="Plus Jakarta Sans"/>
              </a:rPr>
              <a:t>preProcessInput</a:t>
            </a:r>
            <a:r>
              <a:rPr sz="900" b="0" i="0" u="none" dirty="0">
                <a:solidFill>
                  <a:srgbClr val="475569"/>
                </a:solidFill>
                <a:latin typeface="Plus Jakarta Sans"/>
              </a:rPr>
              <a:t> -&gt; pre Process Input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lang="en-US" b="1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Demo &amp; Product Walkthrough</a:t>
            </a:r>
            <a:endParaRPr/>
          </a:p>
        </p:txBody>
      </p:sp>
      <p:sp>
        <p:nvSpPr>
          <p:cNvPr id="5" name="Rounded Rectangle 2">
            <a:extLst>
              <a:ext uri="{FF2B5EF4-FFF2-40B4-BE49-F238E27FC236}">
                <a16:creationId xmlns:a16="http://schemas.microsoft.com/office/drawing/2014/main" id="{69D597E3-8D99-6846-3212-59DD33F942E6}"/>
              </a:ext>
            </a:extLst>
          </p:cNvPr>
          <p:cNvSpPr/>
          <p:nvPr/>
        </p:nvSpPr>
        <p:spPr>
          <a:xfrm>
            <a:off x="609600" y="2274551"/>
            <a:ext cx="4953000" cy="85725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7" name="Rounded Rectangle 3">
            <a:extLst>
              <a:ext uri="{FF2B5EF4-FFF2-40B4-BE49-F238E27FC236}">
                <a16:creationId xmlns:a16="http://schemas.microsoft.com/office/drawing/2014/main" id="{CED8AC4A-0983-0ABB-2F13-EAB0A42FEC63}"/>
              </a:ext>
            </a:extLst>
          </p:cNvPr>
          <p:cNvSpPr/>
          <p:nvPr/>
        </p:nvSpPr>
        <p:spPr>
          <a:xfrm>
            <a:off x="609600" y="3219450"/>
            <a:ext cx="4953000" cy="85725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9" name="Rounded Rectangle 4">
            <a:extLst>
              <a:ext uri="{FF2B5EF4-FFF2-40B4-BE49-F238E27FC236}">
                <a16:creationId xmlns:a16="http://schemas.microsoft.com/office/drawing/2014/main" id="{68DF9EBD-A4D3-ABF0-97E4-8C515BA48929}"/>
              </a:ext>
            </a:extLst>
          </p:cNvPr>
          <p:cNvSpPr/>
          <p:nvPr/>
        </p:nvSpPr>
        <p:spPr>
          <a:xfrm>
            <a:off x="609600" y="4188956"/>
            <a:ext cx="4953000" cy="1057275"/>
          </a:xfrm>
          <a:prstGeom prst="roundRect">
            <a:avLst>
              <a:gd name="adj" fmla="val 1081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141E80A-EC82-FD89-7E53-27F0D1D1C529}"/>
              </a:ext>
            </a:extLst>
          </p:cNvPr>
          <p:cNvSpPr/>
          <p:nvPr/>
        </p:nvSpPr>
        <p:spPr>
          <a:xfrm>
            <a:off x="623889" y="3730834"/>
            <a:ext cx="274081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C22B26E-C700-7FAE-1420-00C4D5888D7A}"/>
              </a:ext>
            </a:extLst>
          </p:cNvPr>
          <p:cNvSpPr/>
          <p:nvPr/>
        </p:nvSpPr>
        <p:spPr>
          <a:xfrm>
            <a:off x="3364708" y="3730834"/>
            <a:ext cx="416599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A5F11C6-742D-06F7-315C-E274CA2B58EF}"/>
              </a:ext>
            </a:extLst>
          </p:cNvPr>
          <p:cNvSpPr/>
          <p:nvPr/>
        </p:nvSpPr>
        <p:spPr>
          <a:xfrm>
            <a:off x="7530705" y="3730834"/>
            <a:ext cx="405645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611A94C-E16C-4040-D675-E24211681537}"/>
              </a:ext>
            </a:extLst>
          </p:cNvPr>
          <p:cNvSpPr/>
          <p:nvPr/>
        </p:nvSpPr>
        <p:spPr>
          <a:xfrm>
            <a:off x="623889" y="4725155"/>
            <a:ext cx="274081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9495316-69DC-E8EA-9349-6EA826B37F36}"/>
              </a:ext>
            </a:extLst>
          </p:cNvPr>
          <p:cNvSpPr/>
          <p:nvPr/>
        </p:nvSpPr>
        <p:spPr>
          <a:xfrm>
            <a:off x="3364708" y="4725155"/>
            <a:ext cx="416599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B929CCE-2F3D-633A-AE70-3E50520F8FE0}"/>
              </a:ext>
            </a:extLst>
          </p:cNvPr>
          <p:cNvSpPr/>
          <p:nvPr/>
        </p:nvSpPr>
        <p:spPr>
          <a:xfrm>
            <a:off x="7530705" y="4725155"/>
            <a:ext cx="405645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pic>
        <p:nvPicPr>
          <p:cNvPr id="24" name="Picture 23" descr="image.png">
            <a:extLst>
              <a:ext uri="{FF2B5EF4-FFF2-40B4-BE49-F238E27FC236}">
                <a16:creationId xmlns:a16="http://schemas.microsoft.com/office/drawing/2014/main" id="{A220DC22-7C40-82C9-38B8-891F001655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2" y="5147083"/>
            <a:ext cx="161925" cy="161925"/>
          </a:xfrm>
          <a:prstGeom prst="rect">
            <a:avLst/>
          </a:prstGeom>
        </p:spPr>
      </p:pic>
      <p:pic>
        <p:nvPicPr>
          <p:cNvPr id="28" name="Picture 27" descr="image.png">
            <a:extLst>
              <a:ext uri="{FF2B5EF4-FFF2-40B4-BE49-F238E27FC236}">
                <a16:creationId xmlns:a16="http://schemas.microsoft.com/office/drawing/2014/main" id="{62EC4365-BC54-78FD-4C0A-F1FE0B624C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2" y="4039355"/>
            <a:ext cx="161925" cy="161925"/>
          </a:xfrm>
          <a:prstGeom prst="rect">
            <a:avLst/>
          </a:prstGeom>
        </p:spPr>
      </p:pic>
      <p:pic>
        <p:nvPicPr>
          <p:cNvPr id="32" name="Picture 31" descr="image.png">
            <a:extLst>
              <a:ext uri="{FF2B5EF4-FFF2-40B4-BE49-F238E27FC236}">
                <a16:creationId xmlns:a16="http://schemas.microsoft.com/office/drawing/2014/main" id="{CD44DE3D-1ECB-5106-D4AC-FCCADDF12E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102" y="3158441"/>
            <a:ext cx="142875" cy="161925"/>
          </a:xfrm>
          <a:prstGeom prst="rect">
            <a:avLst/>
          </a:prstGeom>
        </p:spPr>
      </p:pic>
      <p:pic>
        <p:nvPicPr>
          <p:cNvPr id="35" name="Picture 34" descr="image.png">
            <a:extLst>
              <a:ext uri="{FF2B5EF4-FFF2-40B4-BE49-F238E27FC236}">
                <a16:creationId xmlns:a16="http://schemas.microsoft.com/office/drawing/2014/main" id="{EFA72CFA-4F32-5BD5-C928-1FB9222897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102" y="3158441"/>
            <a:ext cx="142875" cy="161925"/>
          </a:xfrm>
          <a:prstGeom prst="rect">
            <a:avLst/>
          </a:prstGeom>
        </p:spPr>
      </p:pic>
      <p:pic>
        <p:nvPicPr>
          <p:cNvPr id="37" name="Picture 36" descr="image.png">
            <a:extLst>
              <a:ext uri="{FF2B5EF4-FFF2-40B4-BE49-F238E27FC236}">
                <a16:creationId xmlns:a16="http://schemas.microsoft.com/office/drawing/2014/main" id="{334813D5-7D75-2D05-3885-6023BB8937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2" y="4039355"/>
            <a:ext cx="161925" cy="161925"/>
          </a:xfrm>
          <a:prstGeom prst="rect">
            <a:avLst/>
          </a:prstGeom>
        </p:spPr>
      </p:pic>
      <p:pic>
        <p:nvPicPr>
          <p:cNvPr id="39" name="Picture 38" descr="image.png">
            <a:extLst>
              <a:ext uri="{FF2B5EF4-FFF2-40B4-BE49-F238E27FC236}">
                <a16:creationId xmlns:a16="http://schemas.microsoft.com/office/drawing/2014/main" id="{D970D2F9-2A7C-02A0-95DC-5D6D16006E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2" y="5147083"/>
            <a:ext cx="161925" cy="161925"/>
          </a:xfrm>
          <a:prstGeom prst="rect">
            <a:avLst/>
          </a:prstGeom>
        </p:spPr>
      </p:pic>
      <p:sp>
        <p:nvSpPr>
          <p:cNvPr id="41" name="Rounded Rectangle 13">
            <a:extLst>
              <a:ext uri="{FF2B5EF4-FFF2-40B4-BE49-F238E27FC236}">
                <a16:creationId xmlns:a16="http://schemas.microsoft.com/office/drawing/2014/main" id="{038723BA-7DD3-A701-B5DB-9DBFF10C5CE1}"/>
              </a:ext>
            </a:extLst>
          </p:cNvPr>
          <p:cNvSpPr/>
          <p:nvPr/>
        </p:nvSpPr>
        <p:spPr>
          <a:xfrm>
            <a:off x="619127" y="2274551"/>
            <a:ext cx="10972800" cy="3459212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graphicFrame>
        <p:nvGraphicFramePr>
          <p:cNvPr id="43" name="Table 42">
            <a:extLst>
              <a:ext uri="{FF2B5EF4-FFF2-40B4-BE49-F238E27FC236}">
                <a16:creationId xmlns:a16="http://schemas.microsoft.com/office/drawing/2014/main" id="{73E67439-7CB4-5AAF-5E74-F1C55E46BB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3331388"/>
              </p:ext>
            </p:extLst>
          </p:nvPr>
        </p:nvGraphicFramePr>
        <p:xfrm>
          <a:off x="628654" y="2274551"/>
          <a:ext cx="10972800" cy="3459212"/>
        </p:xfrm>
        <a:graphic>
          <a:graphicData uri="http://schemas.openxmlformats.org/drawingml/2006/table">
            <a:tbl>
              <a:tblPr/>
              <a:tblGrid>
                <a:gridCol w="27431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696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599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64803">
                <a:tc>
                  <a:txBody>
                    <a:bodyPr/>
                    <a:lstStyle/>
                    <a:p>
                      <a:pPr algn="l"/>
                      <a:r>
                        <a:rPr sz="1600" b="1" i="0" u="none" dirty="0">
                          <a:solidFill>
                            <a:srgbClr val="F8FAFC"/>
                          </a:solidFill>
                          <a:latin typeface="Plus Jakarta Sans"/>
                        </a:rPr>
                        <a:t>Architectural Feature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 i="0" u="none" dirty="0">
                          <a:solidFill>
                            <a:srgbClr val="F8FAFC"/>
                          </a:solidFill>
                          <a:latin typeface="Plus Jakarta Sans"/>
                        </a:rPr>
                        <a:t>Mechanism &amp; Implementation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 i="0" u="none" dirty="0">
                          <a:solidFill>
                            <a:srgbClr val="F8FAFC"/>
                          </a:solidFill>
                          <a:latin typeface="Plus Jakarta Sans"/>
                        </a:rPr>
                        <a:t>Technical Impact &amp; Advantage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4803">
                <a:tc>
                  <a:txBody>
                    <a:bodyPr/>
                    <a:lstStyle/>
                    <a:p>
                      <a:pPr algn="l"/>
                      <a:r>
                        <a:rPr sz="1500" b="1" i="0" u="none" dirty="0">
                          <a:solidFill>
                            <a:srgbClr val="2563EB"/>
                          </a:solidFill>
                          <a:latin typeface="Plus Jakarta Sans"/>
                        </a:rPr>
                        <a:t>Dual Pipeline Processing</a:t>
                      </a:r>
                    </a:p>
                  </a:txBody>
                  <a:tcPr marL="333375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 dirty="0">
                          <a:solidFill>
                            <a:srgbClr val="334155"/>
                          </a:solidFill>
                          <a:latin typeface="Plus Jakarta Sans"/>
                        </a:rPr>
                        <a:t>Decouples natural-language question parsing from source code document parsing.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 dirty="0">
                          <a:solidFill>
                            <a:srgbClr val="334155"/>
                          </a:solidFill>
                          <a:latin typeface="Plus Jakarta Sans"/>
                        </a:rPr>
                        <a:t>Prevents code transformations (e.g. identifier splitting) from degrading natural text query syntax.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4803">
                <a:tc>
                  <a:txBody>
                    <a:bodyPr/>
                    <a:lstStyle/>
                    <a:p>
                      <a:pPr algn="l"/>
                      <a:r>
                        <a:rPr sz="1500" b="1" i="0" u="none" dirty="0">
                          <a:solidFill>
                            <a:srgbClr val="0F172A"/>
                          </a:solidFill>
                          <a:latin typeface="Plus Jakarta Sans"/>
                        </a:rPr>
                        <a:t>Overlapping Window Stride</a:t>
                      </a:r>
                    </a:p>
                  </a:txBody>
                  <a:tcPr marL="352425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30-line chunk windows sliding with a 15-line stride across source files.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 dirty="0">
                          <a:solidFill>
                            <a:srgbClr val="334155"/>
                          </a:solidFill>
                          <a:latin typeface="Plus Jakarta Sans"/>
                        </a:rPr>
                        <a:t>Ensures functions split across chunk boundaries are captured intact in an adjacent window block.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4803">
                <a:tc>
                  <a:txBody>
                    <a:bodyPr/>
                    <a:lstStyle/>
                    <a:p>
                      <a:pPr algn="l"/>
                      <a:r>
                        <a:rPr sz="1500" b="1" i="0" u="none" dirty="0">
                          <a:solidFill>
                            <a:srgbClr val="8B5CF6"/>
                          </a:solidFill>
                          <a:latin typeface="Plus Jakarta Sans"/>
                        </a:rPr>
                        <a:t>Identifier Splitter Hook</a:t>
                      </a:r>
                    </a:p>
                  </a:txBody>
                  <a:tcPr marL="352425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Separates concatenated variables (e.g., preProcessInput → pre Process Input).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 dirty="0">
                          <a:solidFill>
                            <a:srgbClr val="334155"/>
                          </a:solidFill>
                          <a:latin typeface="Plus Jakarta Sans"/>
                        </a:rPr>
                        <a:t>Aligns camelCase/</a:t>
                      </a:r>
                      <a:r>
                        <a:rPr sz="1275" b="0" i="0" u="none" dirty="0" err="1">
                          <a:solidFill>
                            <a:srgbClr val="334155"/>
                          </a:solidFill>
                          <a:latin typeface="Plus Jakarta Sans"/>
                        </a:rPr>
                        <a:t>snake_case</a:t>
                      </a:r>
                      <a:r>
                        <a:rPr sz="1275" b="0" i="0" u="none" dirty="0">
                          <a:solidFill>
                            <a:srgbClr val="334155"/>
                          </a:solidFill>
                          <a:latin typeface="Plus Jakarta Sans"/>
                        </a:rPr>
                        <a:t> code variables with natural language query vocabulary embeddings.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"/>
          <p:cNvSpPr txBox="1">
            <a:spLocks noGrp="1"/>
          </p:cNvSpPr>
          <p:nvPr>
            <p:ph type="title"/>
          </p:nvPr>
        </p:nvSpPr>
        <p:spPr>
          <a:xfrm>
            <a:off x="508000" y="323566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lang="en-US" sz="4400" b="1" dirty="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Tools and tech stack used</a:t>
            </a:r>
            <a:endParaRPr b="1" dirty="0">
              <a:solidFill>
                <a:srgbClr val="704EA6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9813D39-FE3D-D5E1-7D53-BE5C51259D1D}"/>
              </a:ext>
            </a:extLst>
          </p:cNvPr>
          <p:cNvSpPr/>
          <p:nvPr/>
        </p:nvSpPr>
        <p:spPr>
          <a:xfrm>
            <a:off x="614362" y="3390007"/>
            <a:ext cx="241190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4A276DC-2EFB-C2C5-F387-6DB96C5139A1}"/>
              </a:ext>
            </a:extLst>
          </p:cNvPr>
          <p:cNvSpPr/>
          <p:nvPr/>
        </p:nvSpPr>
        <p:spPr>
          <a:xfrm>
            <a:off x="3026271" y="3390007"/>
            <a:ext cx="306958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A7903DF-B10B-1D33-FD68-E242EAE8AF8E}"/>
              </a:ext>
            </a:extLst>
          </p:cNvPr>
          <p:cNvSpPr/>
          <p:nvPr/>
        </p:nvSpPr>
        <p:spPr>
          <a:xfrm>
            <a:off x="6095851" y="3390007"/>
            <a:ext cx="241190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E953395-C159-F48C-C391-BE58732EC2AA}"/>
              </a:ext>
            </a:extLst>
          </p:cNvPr>
          <p:cNvSpPr/>
          <p:nvPr/>
        </p:nvSpPr>
        <p:spPr>
          <a:xfrm>
            <a:off x="8507759" y="3390007"/>
            <a:ext cx="306987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5143E95-1941-CBFA-676B-2764F2F5942C}"/>
              </a:ext>
            </a:extLst>
          </p:cNvPr>
          <p:cNvSpPr/>
          <p:nvPr/>
        </p:nvSpPr>
        <p:spPr>
          <a:xfrm>
            <a:off x="614362" y="4157662"/>
            <a:ext cx="241190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A48B0DC-9D51-8622-AC52-84E22C494ECE}"/>
              </a:ext>
            </a:extLst>
          </p:cNvPr>
          <p:cNvSpPr/>
          <p:nvPr/>
        </p:nvSpPr>
        <p:spPr>
          <a:xfrm>
            <a:off x="3026271" y="4157662"/>
            <a:ext cx="306958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BA6E898-8E85-4813-D296-1C5ADF48172C}"/>
              </a:ext>
            </a:extLst>
          </p:cNvPr>
          <p:cNvSpPr/>
          <p:nvPr/>
        </p:nvSpPr>
        <p:spPr>
          <a:xfrm>
            <a:off x="6095851" y="4157662"/>
            <a:ext cx="241190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5AD50BF-99A2-F134-3E9C-4135C57BAF90}"/>
              </a:ext>
            </a:extLst>
          </p:cNvPr>
          <p:cNvSpPr/>
          <p:nvPr/>
        </p:nvSpPr>
        <p:spPr>
          <a:xfrm>
            <a:off x="8507759" y="4157662"/>
            <a:ext cx="306987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99ACB4D-2484-B83D-9928-284EA0BE3E5E}"/>
              </a:ext>
            </a:extLst>
          </p:cNvPr>
          <p:cNvSpPr/>
          <p:nvPr/>
        </p:nvSpPr>
        <p:spPr>
          <a:xfrm>
            <a:off x="614362" y="4925317"/>
            <a:ext cx="241190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B575F67-E8F2-9AA2-BFED-274D25B5BEFF}"/>
              </a:ext>
            </a:extLst>
          </p:cNvPr>
          <p:cNvSpPr/>
          <p:nvPr/>
        </p:nvSpPr>
        <p:spPr>
          <a:xfrm>
            <a:off x="3026271" y="4925317"/>
            <a:ext cx="306958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FC26A0B-6A7E-4F51-596F-2C6F4BB5F055}"/>
              </a:ext>
            </a:extLst>
          </p:cNvPr>
          <p:cNvSpPr/>
          <p:nvPr/>
        </p:nvSpPr>
        <p:spPr>
          <a:xfrm>
            <a:off x="6095851" y="4925317"/>
            <a:ext cx="241190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CB54400-BD79-E42A-B021-78899A46DB88}"/>
              </a:ext>
            </a:extLst>
          </p:cNvPr>
          <p:cNvSpPr/>
          <p:nvPr/>
        </p:nvSpPr>
        <p:spPr>
          <a:xfrm>
            <a:off x="8507759" y="4925317"/>
            <a:ext cx="306987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13">
            <a:extLst>
              <a:ext uri="{FF2B5EF4-FFF2-40B4-BE49-F238E27FC236}">
                <a16:creationId xmlns:a16="http://schemas.microsoft.com/office/drawing/2014/main" id="{059A5451-E0B6-15F0-E279-6213E2D62254}"/>
              </a:ext>
            </a:extLst>
          </p:cNvPr>
          <p:cNvSpPr/>
          <p:nvPr/>
        </p:nvSpPr>
        <p:spPr>
          <a:xfrm>
            <a:off x="609600" y="2160389"/>
            <a:ext cx="10968036" cy="3546871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2" name="Table 41">
            <a:extLst>
              <a:ext uri="{FF2B5EF4-FFF2-40B4-BE49-F238E27FC236}">
                <a16:creationId xmlns:a16="http://schemas.microsoft.com/office/drawing/2014/main" id="{8AE16907-33C9-435F-CF7E-3717E3EF62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2925927"/>
              </p:ext>
            </p:extLst>
          </p:nvPr>
        </p:nvGraphicFramePr>
        <p:xfrm>
          <a:off x="609599" y="2160388"/>
          <a:ext cx="10968037" cy="3546871"/>
        </p:xfrm>
        <a:graphic>
          <a:graphicData uri="http://schemas.openxmlformats.org/drawingml/2006/table">
            <a:tbl>
              <a:tblPr/>
              <a:tblGrid>
                <a:gridCol w="24129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709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129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7121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09374">
                <a:tc>
                  <a:txBody>
                    <a:bodyPr/>
                    <a:lstStyle/>
                    <a:p>
                      <a:pPr algn="l"/>
                      <a:r>
                        <a:rPr sz="1600" b="1" i="0" u="none" dirty="0">
                          <a:solidFill>
                            <a:srgbClr val="F8FAFC"/>
                          </a:solidFill>
                          <a:latin typeface="Plus Jakarta Sans"/>
                        </a:rPr>
                        <a:t>System Layer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 i="0" u="none" dirty="0">
                          <a:solidFill>
                            <a:srgbClr val="F8FAFC"/>
                          </a:solidFill>
                          <a:latin typeface="Plus Jakarta Sans"/>
                        </a:rPr>
                        <a:t>Selected Library / Tool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 i="0" u="none" dirty="0">
                          <a:solidFill>
                            <a:srgbClr val="F8FAFC"/>
                          </a:solidFill>
                          <a:latin typeface="Plus Jakarta Sans"/>
                        </a:rPr>
                        <a:t>Technical Specification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 i="0" u="none" dirty="0">
                          <a:solidFill>
                            <a:srgbClr val="F8FAFC"/>
                          </a:solidFill>
                          <a:latin typeface="Plus Jakarta Sans"/>
                        </a:rPr>
                        <a:t>Operational Role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9374">
                <a:tc>
                  <a:txBody>
                    <a:bodyPr/>
                    <a:lstStyle/>
                    <a:p>
                      <a:pPr algn="l"/>
                      <a:r>
                        <a:rPr sz="1500" b="1" i="0" u="none" dirty="0">
                          <a:solidFill>
                            <a:srgbClr val="334155"/>
                          </a:solidFill>
                          <a:latin typeface="Plus Jakarta Sans"/>
                        </a:rPr>
                        <a:t>Sentence Embeddings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1" i="0" u="none">
                          <a:solidFill>
                            <a:srgbClr val="2563EB"/>
                          </a:solidFill>
                          <a:latin typeface="JetBrains Mono"/>
                        </a:rPr>
                        <a:t>BAAI/bge-small-en-v1.5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384-dimensional dense vectors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 dirty="0">
                          <a:solidFill>
                            <a:srgbClr val="334155"/>
                          </a:solidFill>
                          <a:latin typeface="Plus Jakarta Sans"/>
                        </a:rPr>
                        <a:t>Encodes text &amp; code into semantic space.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9374">
                <a:tc>
                  <a:txBody>
                    <a:bodyPr/>
                    <a:lstStyle/>
                    <a:p>
                      <a:pPr algn="l"/>
                      <a:r>
                        <a:rPr sz="1500" b="1" i="0" u="none" dirty="0">
                          <a:solidFill>
                            <a:srgbClr val="334155"/>
                          </a:solidFill>
                          <a:latin typeface="Plus Jakarta Sans"/>
                        </a:rPr>
                        <a:t>Vector Engine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1" i="0" u="none">
                          <a:solidFill>
                            <a:srgbClr val="2563EB"/>
                          </a:solidFill>
                          <a:latin typeface="JetBrains Mono"/>
                        </a:rPr>
                        <a:t>NumPy (Dot Product)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Normalized Dot Product Math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 dirty="0">
                          <a:solidFill>
                            <a:srgbClr val="334155"/>
                          </a:solidFill>
                          <a:latin typeface="Plus Jakarta Sans"/>
                        </a:rPr>
                        <a:t>Executes fast CPU cosine similarity.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9374">
                <a:tc>
                  <a:txBody>
                    <a:bodyPr/>
                    <a:lstStyle/>
                    <a:p>
                      <a:pPr algn="l"/>
                      <a:r>
                        <a:rPr sz="1500" b="1" i="0" u="none" dirty="0">
                          <a:solidFill>
                            <a:srgbClr val="334155"/>
                          </a:solidFill>
                          <a:latin typeface="Plus Jakarta Sans"/>
                        </a:rPr>
                        <a:t>Evaluation Suite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1" i="0" u="none">
                          <a:solidFill>
                            <a:srgbClr val="2563EB"/>
                          </a:solidFill>
                          <a:latin typeface="JetBrains Mono"/>
                        </a:rPr>
                        <a:t>MTEB / CoIR AppsRetrieval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3,765 queries / 8,765 snippets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 dirty="0">
                          <a:solidFill>
                            <a:srgbClr val="334155"/>
                          </a:solidFill>
                          <a:latin typeface="Plus Jakarta Sans"/>
                        </a:rPr>
                        <a:t>Provides standardized benchmark metrics.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9375">
                <a:tc>
                  <a:txBody>
                    <a:bodyPr/>
                    <a:lstStyle/>
                    <a:p>
                      <a:pPr algn="l"/>
                      <a:r>
                        <a:rPr lang="en-IN" sz="1500" b="1" i="0" u="none" dirty="0">
                          <a:solidFill>
                            <a:srgbClr val="334155"/>
                          </a:solidFill>
                          <a:latin typeface="Plus Jakarta Sans"/>
                        </a:rPr>
                        <a:t>Execution Target</a:t>
                      </a:r>
                      <a:endParaRPr sz="1500" b="1" i="0" u="none" dirty="0">
                        <a:solidFill>
                          <a:srgbClr val="334155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1" i="0" u="none">
                          <a:solidFill>
                            <a:srgbClr val="2563EB"/>
                          </a:solidFill>
                          <a:latin typeface="JetBrains Mono"/>
                        </a:rPr>
                        <a:t>Python 3.x CPU Runtime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Zero GPU utilization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 dirty="0">
                          <a:solidFill>
                            <a:srgbClr val="334155"/>
                          </a:solidFill>
                          <a:latin typeface="Plus Jakarta Sans"/>
                        </a:rPr>
                        <a:t>Ensures private local developer laptop run.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7"/>
          <p:cNvSpPr txBox="1">
            <a:spLocks noGrp="1"/>
          </p:cNvSpPr>
          <p:nvPr>
            <p:ph type="title"/>
          </p:nvPr>
        </p:nvSpPr>
        <p:spPr>
          <a:xfrm>
            <a:off x="609600" y="328711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lang="en-US" sz="4400" b="1" dirty="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Impact &amp; Use case</a:t>
            </a:r>
            <a:endParaRPr b="1" dirty="0">
              <a:solidFill>
                <a:srgbClr val="704EA6"/>
              </a:solidFill>
            </a:endParaRPr>
          </a:p>
        </p:txBody>
      </p:sp>
      <p:sp>
        <p:nvSpPr>
          <p:cNvPr id="3" name="Rounded Rectangle 1">
            <a:extLst>
              <a:ext uri="{FF2B5EF4-FFF2-40B4-BE49-F238E27FC236}">
                <a16:creationId xmlns:a16="http://schemas.microsoft.com/office/drawing/2014/main" id="{53FA9DBC-EA6B-3C11-85B1-67D6B3B55F5F}"/>
              </a:ext>
            </a:extLst>
          </p:cNvPr>
          <p:cNvSpPr/>
          <p:nvPr/>
        </p:nvSpPr>
        <p:spPr>
          <a:xfrm>
            <a:off x="609600" y="2933700"/>
            <a:ext cx="3505200" cy="2047875"/>
          </a:xfrm>
          <a:prstGeom prst="roundRect">
            <a:avLst>
              <a:gd name="adj" fmla="val 7441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2">
            <a:extLst>
              <a:ext uri="{FF2B5EF4-FFF2-40B4-BE49-F238E27FC236}">
                <a16:creationId xmlns:a16="http://schemas.microsoft.com/office/drawing/2014/main" id="{B6BC12B9-BCD4-1D7E-42D3-9208E98D1957}"/>
              </a:ext>
            </a:extLst>
          </p:cNvPr>
          <p:cNvSpPr/>
          <p:nvPr/>
        </p:nvSpPr>
        <p:spPr>
          <a:xfrm>
            <a:off x="4343400" y="2933700"/>
            <a:ext cx="3505200" cy="2047875"/>
          </a:xfrm>
          <a:prstGeom prst="roundRect">
            <a:avLst>
              <a:gd name="adj" fmla="val 7441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3">
            <a:extLst>
              <a:ext uri="{FF2B5EF4-FFF2-40B4-BE49-F238E27FC236}">
                <a16:creationId xmlns:a16="http://schemas.microsoft.com/office/drawing/2014/main" id="{99005A82-78BC-4905-A79B-415F9BA7F147}"/>
              </a:ext>
            </a:extLst>
          </p:cNvPr>
          <p:cNvSpPr/>
          <p:nvPr/>
        </p:nvSpPr>
        <p:spPr>
          <a:xfrm>
            <a:off x="8077200" y="2933700"/>
            <a:ext cx="3505200" cy="2047875"/>
          </a:xfrm>
          <a:prstGeom prst="roundRect">
            <a:avLst>
              <a:gd name="adj" fmla="val 7441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.png">
            <a:extLst>
              <a:ext uri="{FF2B5EF4-FFF2-40B4-BE49-F238E27FC236}">
                <a16:creationId xmlns:a16="http://schemas.microsoft.com/office/drawing/2014/main" id="{FB10B92B-B540-B6D0-662B-332B2A48D5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300" y="3086100"/>
            <a:ext cx="609600" cy="609600"/>
          </a:xfrm>
          <a:prstGeom prst="rect">
            <a:avLst/>
          </a:prstGeom>
        </p:spPr>
      </p:pic>
      <p:pic>
        <p:nvPicPr>
          <p:cNvPr id="11" name="Picture 10" descr="image.png">
            <a:extLst>
              <a:ext uri="{FF2B5EF4-FFF2-40B4-BE49-F238E27FC236}">
                <a16:creationId xmlns:a16="http://schemas.microsoft.com/office/drawing/2014/main" id="{7C9595C4-CA96-CE7C-5BB1-468166B139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0100" y="3086100"/>
            <a:ext cx="609600" cy="609600"/>
          </a:xfrm>
          <a:prstGeom prst="rect">
            <a:avLst/>
          </a:prstGeom>
        </p:spPr>
      </p:pic>
      <p:pic>
        <p:nvPicPr>
          <p:cNvPr id="13" name="Picture 12" descr="image.png">
            <a:extLst>
              <a:ext uri="{FF2B5EF4-FFF2-40B4-BE49-F238E27FC236}">
                <a16:creationId xmlns:a16="http://schemas.microsoft.com/office/drawing/2014/main" id="{31F9FC77-3E52-6EF6-EF3D-855EE9065C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3900" y="3086100"/>
            <a:ext cx="609600" cy="609600"/>
          </a:xfrm>
          <a:prstGeom prst="rect">
            <a:avLst/>
          </a:prstGeom>
        </p:spPr>
      </p:pic>
      <p:pic>
        <p:nvPicPr>
          <p:cNvPr id="15" name="Picture 14" descr="image.png">
            <a:extLst>
              <a:ext uri="{FF2B5EF4-FFF2-40B4-BE49-F238E27FC236}">
                <a16:creationId xmlns:a16="http://schemas.microsoft.com/office/drawing/2014/main" id="{769D9780-CA60-CFFA-8E1B-EA34F855DA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4412" y="3202405"/>
            <a:ext cx="319088" cy="369470"/>
          </a:xfrm>
          <a:prstGeom prst="rect">
            <a:avLst/>
          </a:prstGeom>
        </p:spPr>
      </p:pic>
      <p:pic>
        <p:nvPicPr>
          <p:cNvPr id="17" name="Picture 16" descr="image.png">
            <a:extLst>
              <a:ext uri="{FF2B5EF4-FFF2-40B4-BE49-F238E27FC236}">
                <a16:creationId xmlns:a16="http://schemas.microsoft.com/office/drawing/2014/main" id="{DCD3AFF4-7B1D-6E20-1C16-6161A20C4EE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05349" y="3202405"/>
            <a:ext cx="470235" cy="369470"/>
          </a:xfrm>
          <a:prstGeom prst="rect">
            <a:avLst/>
          </a:prstGeom>
        </p:spPr>
      </p:pic>
      <p:pic>
        <p:nvPicPr>
          <p:cNvPr id="19" name="Picture 18" descr="image.png">
            <a:extLst>
              <a:ext uri="{FF2B5EF4-FFF2-40B4-BE49-F238E27FC236}">
                <a16:creationId xmlns:a16="http://schemas.microsoft.com/office/drawing/2014/main" id="{D7A3DCC2-673B-B363-A737-1D47EADE662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67725" y="3202405"/>
            <a:ext cx="369470" cy="36947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9F264665-3D7C-384F-66CC-D650821237FC}"/>
              </a:ext>
            </a:extLst>
          </p:cNvPr>
          <p:cNvSpPr txBox="1"/>
          <p:nvPr/>
        </p:nvSpPr>
        <p:spPr>
          <a:xfrm>
            <a:off x="876300" y="3886200"/>
            <a:ext cx="2656753" cy="33855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200" b="1" i="0" u="none" dirty="0">
                <a:solidFill>
                  <a:srgbClr val="0F172A"/>
                </a:solidFill>
                <a:latin typeface="Plus Jakarta Sans"/>
              </a:rPr>
              <a:t>Developer Onboarding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F476BAE-0D93-D427-4642-725E0419F0B9}"/>
              </a:ext>
            </a:extLst>
          </p:cNvPr>
          <p:cNvSpPr txBox="1"/>
          <p:nvPr/>
        </p:nvSpPr>
        <p:spPr>
          <a:xfrm>
            <a:off x="876300" y="4238625"/>
            <a:ext cx="306705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 dirty="0">
                <a:solidFill>
                  <a:srgbClr val="475569"/>
                </a:solidFill>
                <a:latin typeface="Plus Jakarta Sans"/>
              </a:rPr>
              <a:t>Rapid navigation across unfamiliar multi-thousand-file repositories.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FF00E78-4158-8DFA-BA4D-52AEBA041348}"/>
              </a:ext>
            </a:extLst>
          </p:cNvPr>
          <p:cNvSpPr txBox="1"/>
          <p:nvPr/>
        </p:nvSpPr>
        <p:spPr>
          <a:xfrm>
            <a:off x="4610100" y="3886200"/>
            <a:ext cx="2789161" cy="33855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200" b="1" i="0" u="none" dirty="0">
                <a:solidFill>
                  <a:srgbClr val="0F172A"/>
                </a:solidFill>
                <a:latin typeface="Plus Jakarta Sans"/>
              </a:rPr>
              <a:t>Agentic Tool Integration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6D85756-BA5A-A69B-FB8F-9897B77E1757}"/>
              </a:ext>
            </a:extLst>
          </p:cNvPr>
          <p:cNvSpPr txBox="1"/>
          <p:nvPr/>
        </p:nvSpPr>
        <p:spPr>
          <a:xfrm>
            <a:off x="4610100" y="4238625"/>
            <a:ext cx="306705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 dirty="0">
                <a:solidFill>
                  <a:srgbClr val="475569"/>
                </a:solidFill>
                <a:latin typeface="Plus Jakarta Sans"/>
              </a:rPr>
              <a:t>Lightweight code lookup engine for AI coding assistants.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48EAEE6-0D0B-386F-7323-8645F1B04843}"/>
              </a:ext>
            </a:extLst>
          </p:cNvPr>
          <p:cNvSpPr txBox="1"/>
          <p:nvPr/>
        </p:nvSpPr>
        <p:spPr>
          <a:xfrm>
            <a:off x="8343900" y="3886200"/>
            <a:ext cx="2650213" cy="33855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200" b="1" i="0" u="none" dirty="0">
                <a:solidFill>
                  <a:srgbClr val="0F172A"/>
                </a:solidFill>
                <a:latin typeface="Plus Jakarta Sans"/>
              </a:rPr>
              <a:t>Local CPU Deployment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18DBE77-5914-3F0C-A1BF-112DF1F9CFC6}"/>
              </a:ext>
            </a:extLst>
          </p:cNvPr>
          <p:cNvSpPr txBox="1"/>
          <p:nvPr/>
        </p:nvSpPr>
        <p:spPr>
          <a:xfrm>
            <a:off x="8343900" y="4238625"/>
            <a:ext cx="306705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 dirty="0">
                <a:solidFill>
                  <a:srgbClr val="475569"/>
                </a:solidFill>
                <a:latin typeface="Plus Jakarta Sans"/>
              </a:rPr>
              <a:t>Private local indexing without external cloud API dependencies.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8"/>
          <p:cNvSpPr txBox="1">
            <a:spLocks noGrp="1"/>
          </p:cNvSpPr>
          <p:nvPr>
            <p:ph type="title"/>
          </p:nvPr>
        </p:nvSpPr>
        <p:spPr>
          <a:xfrm>
            <a:off x="609600" y="438393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lang="en-US" sz="4400" b="1" dirty="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Innovation</a:t>
            </a:r>
            <a:r>
              <a:rPr lang="en-US" sz="4400" b="1" dirty="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 highlights</a:t>
            </a:r>
            <a:r>
              <a:rPr lang="en-US" b="1" dirty="0">
                <a:solidFill>
                  <a:srgbClr val="704EA6"/>
                </a:solidFill>
              </a:rPr>
              <a:t> and Evaluation</a:t>
            </a:r>
            <a:endParaRPr sz="4400" b="1" dirty="0">
              <a:solidFill>
                <a:srgbClr val="704EA6"/>
              </a:solidFill>
            </a:endParaRPr>
          </a:p>
        </p:txBody>
      </p:sp>
      <p:sp>
        <p:nvSpPr>
          <p:cNvPr id="30" name="Rounded Rectangle 1">
            <a:extLst>
              <a:ext uri="{FF2B5EF4-FFF2-40B4-BE49-F238E27FC236}">
                <a16:creationId xmlns:a16="http://schemas.microsoft.com/office/drawing/2014/main" id="{4F63D1B2-5689-1B21-D0EA-DDD4AF71908E}"/>
              </a:ext>
            </a:extLst>
          </p:cNvPr>
          <p:cNvSpPr/>
          <p:nvPr/>
        </p:nvSpPr>
        <p:spPr>
          <a:xfrm>
            <a:off x="619125" y="2943931"/>
            <a:ext cx="10972800" cy="1381125"/>
          </a:xfrm>
          <a:prstGeom prst="roundRect">
            <a:avLst>
              <a:gd name="adj" fmla="val 827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B01A1BC-186B-28CA-1BE2-634358C5E7BD}"/>
              </a:ext>
            </a:extLst>
          </p:cNvPr>
          <p:cNvSpPr/>
          <p:nvPr/>
        </p:nvSpPr>
        <p:spPr>
          <a:xfrm>
            <a:off x="6086475" y="3111643"/>
            <a:ext cx="19050" cy="7620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">
            <a:extLst>
              <a:ext uri="{FF2B5EF4-FFF2-40B4-BE49-F238E27FC236}">
                <a16:creationId xmlns:a16="http://schemas.microsoft.com/office/drawing/2014/main" id="{13F2F18F-4F75-6B4B-1D14-CEDD3A3AC328}"/>
              </a:ext>
            </a:extLst>
          </p:cNvPr>
          <p:cNvSpPr/>
          <p:nvPr/>
        </p:nvSpPr>
        <p:spPr>
          <a:xfrm>
            <a:off x="609600" y="4710256"/>
            <a:ext cx="10972800" cy="1017240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4E39BBBE-217C-3FB3-4874-E7D25CFBDA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1253185"/>
              </p:ext>
            </p:extLst>
          </p:nvPr>
        </p:nvGraphicFramePr>
        <p:xfrm>
          <a:off x="619127" y="4710256"/>
          <a:ext cx="10963273" cy="1017240"/>
        </p:xfrm>
        <a:graphic>
          <a:graphicData uri="http://schemas.openxmlformats.org/drawingml/2006/table">
            <a:tbl>
              <a:tblPr/>
              <a:tblGrid>
                <a:gridCol w="31157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6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281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157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8620">
                <a:tc>
                  <a:txBody>
                    <a:bodyPr/>
                    <a:lstStyle/>
                    <a:p>
                      <a:pPr algn="l"/>
                      <a:r>
                        <a:rPr sz="1600" b="1" i="0" u="none" dirty="0">
                          <a:solidFill>
                            <a:srgbClr val="F8FAFC"/>
                          </a:solidFill>
                          <a:latin typeface="Plus Jakarta Sans"/>
                        </a:rPr>
                        <a:t>Evaluation Benchmark Split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 i="0" u="none" dirty="0">
                          <a:solidFill>
                            <a:srgbClr val="F8FAFC"/>
                          </a:solidFill>
                          <a:latin typeface="Plus Jakarta Sans"/>
                        </a:rPr>
                        <a:t>Total Test Queries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 i="0" u="none" dirty="0">
                          <a:solidFill>
                            <a:srgbClr val="F8FAFC"/>
                          </a:solidFill>
                          <a:latin typeface="Plus Jakarta Sans"/>
                        </a:rPr>
                        <a:t>Total Code Snippets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 i="0" u="none" dirty="0">
                          <a:solidFill>
                            <a:srgbClr val="F8FAFC"/>
                          </a:solidFill>
                          <a:latin typeface="Plus Jakarta Sans"/>
                        </a:rPr>
                        <a:t>Output Artifact File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620">
                <a:tc>
                  <a:txBody>
                    <a:bodyPr/>
                    <a:lstStyle/>
                    <a:p>
                      <a:pPr algn="l"/>
                      <a:r>
                        <a:rPr sz="1400" b="1" i="0" u="none" dirty="0" err="1">
                          <a:solidFill>
                            <a:srgbClr val="334155"/>
                          </a:solidFill>
                          <a:latin typeface="Plus Jakarta Sans"/>
                        </a:rPr>
                        <a:t>CoIR</a:t>
                      </a:r>
                      <a:r>
                        <a:rPr sz="1400" b="1" i="0" u="none" dirty="0">
                          <a:solidFill>
                            <a:srgbClr val="334155"/>
                          </a:solidFill>
                          <a:latin typeface="Plus Jakarta Sans"/>
                        </a:rPr>
                        <a:t> </a:t>
                      </a:r>
                      <a:r>
                        <a:rPr sz="1400" b="1" i="0" u="none" dirty="0" err="1">
                          <a:solidFill>
                            <a:srgbClr val="334155"/>
                          </a:solidFill>
                          <a:latin typeface="Plus Jakarta Sans"/>
                        </a:rPr>
                        <a:t>AppsRetrieval</a:t>
                      </a:r>
                      <a:r>
                        <a:rPr sz="1400" b="1" i="0" u="none" dirty="0">
                          <a:solidFill>
                            <a:srgbClr val="334155"/>
                          </a:solidFill>
                          <a:latin typeface="Plus Jakarta Sans"/>
                        </a:rPr>
                        <a:t> Test Split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 u="none" dirty="0">
                          <a:solidFill>
                            <a:srgbClr val="334155"/>
                          </a:solidFill>
                          <a:latin typeface="JetBrains Mono"/>
                        </a:rPr>
                        <a:t>3,765 Queries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 u="none" dirty="0">
                          <a:solidFill>
                            <a:srgbClr val="334155"/>
                          </a:solidFill>
                          <a:latin typeface="JetBrains Mono"/>
                        </a:rPr>
                        <a:t>8,765 Snippets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i="0" u="none" dirty="0" err="1">
                          <a:solidFill>
                            <a:srgbClr val="2563EB"/>
                          </a:solidFill>
                          <a:latin typeface="JetBrains Mono"/>
                        </a:rPr>
                        <a:t>appsretrieval_results.json</a:t>
                      </a:r>
                      <a:endParaRPr sz="1400" b="1" i="0" u="none" dirty="0">
                        <a:solidFill>
                          <a:srgbClr val="2563EB"/>
                        </a:solidFill>
                        <a:latin typeface="JetBrains Mono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2" name="TextBox 41">
            <a:extLst>
              <a:ext uri="{FF2B5EF4-FFF2-40B4-BE49-F238E27FC236}">
                <a16:creationId xmlns:a16="http://schemas.microsoft.com/office/drawing/2014/main" id="{BA313B16-F90A-298C-B4FD-7E0396692794}"/>
              </a:ext>
            </a:extLst>
          </p:cNvPr>
          <p:cNvSpPr txBox="1"/>
          <p:nvPr/>
        </p:nvSpPr>
        <p:spPr>
          <a:xfrm>
            <a:off x="609600" y="2149156"/>
            <a:ext cx="11582400" cy="4095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50" b="1" i="0" u="none" dirty="0" err="1">
                <a:solidFill>
                  <a:srgbClr val="0F172A"/>
                </a:solidFill>
                <a:latin typeface="Plus Jakarta Sans"/>
              </a:rPr>
              <a:t>CoIR</a:t>
            </a:r>
            <a:r>
              <a:rPr sz="2550" b="1" i="0" u="none" dirty="0">
                <a:solidFill>
                  <a:srgbClr val="0F172A"/>
                </a:solidFill>
                <a:latin typeface="Plus Jakarta Sans"/>
              </a:rPr>
              <a:t> </a:t>
            </a:r>
            <a:r>
              <a:rPr sz="2550" b="1" i="0" u="none" dirty="0" err="1">
                <a:solidFill>
                  <a:srgbClr val="0F172A"/>
                </a:solidFill>
                <a:latin typeface="Plus Jakarta Sans"/>
              </a:rPr>
              <a:t>AppsRetrieval</a:t>
            </a:r>
            <a:r>
              <a:rPr sz="2550" b="1" i="0" u="none" dirty="0">
                <a:solidFill>
                  <a:srgbClr val="0F172A"/>
                </a:solidFill>
                <a:latin typeface="Plus Jakarta Sans"/>
              </a:rPr>
              <a:t> Performance Results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AC3BC2B-EA67-BB88-1D9E-F137552ADE9A}"/>
              </a:ext>
            </a:extLst>
          </p:cNvPr>
          <p:cNvSpPr txBox="1"/>
          <p:nvPr/>
        </p:nvSpPr>
        <p:spPr>
          <a:xfrm>
            <a:off x="207168" y="3143956"/>
            <a:ext cx="6119812" cy="685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5400"/>
              </a:lnSpc>
            </a:pPr>
            <a:r>
              <a:rPr sz="5400" b="1" i="0" u="none" dirty="0">
                <a:solidFill>
                  <a:srgbClr val="2563EB"/>
                </a:solidFill>
                <a:latin typeface="JetBrains Mono"/>
              </a:rPr>
              <a:t>0.0514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96F3574-4AD4-0D64-C9BC-18D461035869}"/>
              </a:ext>
            </a:extLst>
          </p:cNvPr>
          <p:cNvSpPr txBox="1"/>
          <p:nvPr/>
        </p:nvSpPr>
        <p:spPr>
          <a:xfrm>
            <a:off x="207168" y="3905956"/>
            <a:ext cx="6119812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0F172A"/>
                </a:solidFill>
                <a:latin typeface="Plus Jakarta Sans"/>
              </a:rPr>
              <a:t>NDCG@10 Score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567B4B9-8D15-E099-1C71-6E2C56F13813}"/>
              </a:ext>
            </a:extLst>
          </p:cNvPr>
          <p:cNvSpPr txBox="1"/>
          <p:nvPr/>
        </p:nvSpPr>
        <p:spPr>
          <a:xfrm>
            <a:off x="5884068" y="3143956"/>
            <a:ext cx="6119812" cy="685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5400"/>
              </a:lnSpc>
            </a:pPr>
            <a:r>
              <a:rPr sz="5400" b="1" i="0" u="none">
                <a:solidFill>
                  <a:srgbClr val="0F172A"/>
                </a:solidFill>
                <a:latin typeface="JetBrains Mono"/>
              </a:rPr>
              <a:t>0.0437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26F5CE5-3739-891C-1809-7CB816C6FFE0}"/>
              </a:ext>
            </a:extLst>
          </p:cNvPr>
          <p:cNvSpPr txBox="1"/>
          <p:nvPr/>
        </p:nvSpPr>
        <p:spPr>
          <a:xfrm>
            <a:off x="5884068" y="3905956"/>
            <a:ext cx="6119812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0F172A"/>
                </a:solidFill>
                <a:latin typeface="Plus Jakarta Sans"/>
              </a:rPr>
              <a:t>MRR@10 Score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1F0370-1548-900C-9778-2ED92F682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18541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rgbClr val="7030A0"/>
                </a:solidFill>
              </a:rPr>
              <a:t>Limitations</a:t>
            </a:r>
            <a:endParaRPr lang="en-IN" b="1" dirty="0">
              <a:solidFill>
                <a:srgbClr val="7030A0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431B4CD-19C6-3AD7-5ED7-53C358141AC4}"/>
              </a:ext>
            </a:extLst>
          </p:cNvPr>
          <p:cNvSpPr/>
          <p:nvPr/>
        </p:nvSpPr>
        <p:spPr>
          <a:xfrm>
            <a:off x="614362" y="3655665"/>
            <a:ext cx="274081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B14FE84-7E2B-39A1-9989-08F372D659D0}"/>
              </a:ext>
            </a:extLst>
          </p:cNvPr>
          <p:cNvSpPr/>
          <p:nvPr/>
        </p:nvSpPr>
        <p:spPr>
          <a:xfrm>
            <a:off x="3355181" y="3655665"/>
            <a:ext cx="383708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DE5B237-23D0-4FDD-3F16-0E7806EC2031}"/>
              </a:ext>
            </a:extLst>
          </p:cNvPr>
          <p:cNvSpPr/>
          <p:nvPr/>
        </p:nvSpPr>
        <p:spPr>
          <a:xfrm>
            <a:off x="7192267" y="3655665"/>
            <a:ext cx="438536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C61AA2F-7CCC-C6AC-8682-F0A417D9E34C}"/>
              </a:ext>
            </a:extLst>
          </p:cNvPr>
          <p:cNvSpPr/>
          <p:nvPr/>
        </p:nvSpPr>
        <p:spPr>
          <a:xfrm>
            <a:off x="614362" y="4669035"/>
            <a:ext cx="274081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A575D8F-9C30-6A9F-4991-6974A02B716E}"/>
              </a:ext>
            </a:extLst>
          </p:cNvPr>
          <p:cNvSpPr/>
          <p:nvPr/>
        </p:nvSpPr>
        <p:spPr>
          <a:xfrm>
            <a:off x="3355181" y="4669035"/>
            <a:ext cx="383708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FF474E6-B2FE-B4CF-24A2-DCE369A121C8}"/>
              </a:ext>
            </a:extLst>
          </p:cNvPr>
          <p:cNvSpPr/>
          <p:nvPr/>
        </p:nvSpPr>
        <p:spPr>
          <a:xfrm>
            <a:off x="7192267" y="4669035"/>
            <a:ext cx="438536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image.png">
            <a:extLst>
              <a:ext uri="{FF2B5EF4-FFF2-40B4-BE49-F238E27FC236}">
                <a16:creationId xmlns:a16="http://schemas.microsoft.com/office/drawing/2014/main" id="{B93B01E5-3670-F8A6-D52D-8934D285D9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575" y="3191767"/>
            <a:ext cx="161925" cy="161925"/>
          </a:xfrm>
          <a:prstGeom prst="rect">
            <a:avLst/>
          </a:prstGeom>
        </p:spPr>
      </p:pic>
      <p:pic>
        <p:nvPicPr>
          <p:cNvPr id="19" name="Picture 18" descr="image.png">
            <a:extLst>
              <a:ext uri="{FF2B5EF4-FFF2-40B4-BE49-F238E27FC236}">
                <a16:creationId xmlns:a16="http://schemas.microsoft.com/office/drawing/2014/main" id="{5B45373D-0DCE-2A22-715D-37F78B57F2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575" y="4087117"/>
            <a:ext cx="180975" cy="161925"/>
          </a:xfrm>
          <a:prstGeom prst="rect">
            <a:avLst/>
          </a:prstGeom>
        </p:spPr>
      </p:pic>
      <p:pic>
        <p:nvPicPr>
          <p:cNvPr id="21" name="Picture 20" descr="image.png">
            <a:extLst>
              <a:ext uri="{FF2B5EF4-FFF2-40B4-BE49-F238E27FC236}">
                <a16:creationId xmlns:a16="http://schemas.microsoft.com/office/drawing/2014/main" id="{70DDBDDC-9D43-18B0-0DAA-FF9659DE94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575" y="4977556"/>
            <a:ext cx="161925" cy="161925"/>
          </a:xfrm>
          <a:prstGeom prst="rect">
            <a:avLst/>
          </a:prstGeom>
        </p:spPr>
      </p:pic>
      <p:pic>
        <p:nvPicPr>
          <p:cNvPr id="23" name="Picture 22" descr="image.png">
            <a:extLst>
              <a:ext uri="{FF2B5EF4-FFF2-40B4-BE49-F238E27FC236}">
                <a16:creationId xmlns:a16="http://schemas.microsoft.com/office/drawing/2014/main" id="{BDCC0E8E-9CA9-B609-587A-412191C7C1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575" y="3191767"/>
            <a:ext cx="161925" cy="161925"/>
          </a:xfrm>
          <a:prstGeom prst="rect">
            <a:avLst/>
          </a:prstGeom>
        </p:spPr>
      </p:pic>
      <p:pic>
        <p:nvPicPr>
          <p:cNvPr id="25" name="Picture 24" descr="image.png">
            <a:extLst>
              <a:ext uri="{FF2B5EF4-FFF2-40B4-BE49-F238E27FC236}">
                <a16:creationId xmlns:a16="http://schemas.microsoft.com/office/drawing/2014/main" id="{281AC0D1-3CED-9FA2-27FB-7307EBA501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575" y="4087117"/>
            <a:ext cx="180975" cy="161925"/>
          </a:xfrm>
          <a:prstGeom prst="rect">
            <a:avLst/>
          </a:prstGeom>
        </p:spPr>
      </p:pic>
      <p:pic>
        <p:nvPicPr>
          <p:cNvPr id="27" name="Picture 26" descr="image.png">
            <a:extLst>
              <a:ext uri="{FF2B5EF4-FFF2-40B4-BE49-F238E27FC236}">
                <a16:creationId xmlns:a16="http://schemas.microsoft.com/office/drawing/2014/main" id="{C86D768F-2C9F-3D9D-9128-10E0E939A2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575" y="4977556"/>
            <a:ext cx="161925" cy="161925"/>
          </a:xfrm>
          <a:prstGeom prst="rect">
            <a:avLst/>
          </a:prstGeom>
        </p:spPr>
      </p:pic>
      <p:sp>
        <p:nvSpPr>
          <p:cNvPr id="29" name="Rounded Rectangle 13">
            <a:extLst>
              <a:ext uri="{FF2B5EF4-FFF2-40B4-BE49-F238E27FC236}">
                <a16:creationId xmlns:a16="http://schemas.microsoft.com/office/drawing/2014/main" id="{624D97BD-9CF2-D5DE-EAF8-421322731D4B}"/>
              </a:ext>
            </a:extLst>
          </p:cNvPr>
          <p:cNvSpPr/>
          <p:nvPr/>
        </p:nvSpPr>
        <p:spPr>
          <a:xfrm>
            <a:off x="609600" y="2416522"/>
            <a:ext cx="10963273" cy="3279712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31" name="Table 30">
            <a:extLst>
              <a:ext uri="{FF2B5EF4-FFF2-40B4-BE49-F238E27FC236}">
                <a16:creationId xmlns:a16="http://schemas.microsoft.com/office/drawing/2014/main" id="{AE881D9E-51DE-B79D-DBAC-BB749A613B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7036256"/>
              </p:ext>
            </p:extLst>
          </p:nvPr>
        </p:nvGraphicFramePr>
        <p:xfrm>
          <a:off x="609600" y="2041522"/>
          <a:ext cx="10972800" cy="3654712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04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891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13678">
                <a:tc>
                  <a:txBody>
                    <a:bodyPr/>
                    <a:lstStyle/>
                    <a:p>
                      <a:pPr algn="l"/>
                      <a:r>
                        <a:rPr sz="1600" b="1" i="0" u="none" dirty="0">
                          <a:solidFill>
                            <a:srgbClr val="F8FAFC"/>
                          </a:solidFill>
                          <a:latin typeface="Plus Jakarta Sans"/>
                        </a:rPr>
                        <a:t>Identified Limitation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 i="0" u="none" dirty="0">
                          <a:solidFill>
                            <a:srgbClr val="F8FAFC"/>
                          </a:solidFill>
                          <a:latin typeface="Plus Jakarta Sans"/>
                        </a:rPr>
                        <a:t>Root Cause Bottleneck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 i="0" u="none" dirty="0">
                          <a:solidFill>
                            <a:srgbClr val="F8FAFC"/>
                          </a:solidFill>
                          <a:latin typeface="Plus Jakarta Sans"/>
                        </a:rPr>
                        <a:t>Implemented / Planned Mitigation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3678">
                <a:tc>
                  <a:txBody>
                    <a:bodyPr/>
                    <a:lstStyle/>
                    <a:p>
                      <a:pPr algn="l"/>
                      <a:r>
                        <a:rPr sz="1500" b="1" i="0" u="none" dirty="0">
                          <a:solidFill>
                            <a:srgbClr val="D97706"/>
                          </a:solidFill>
                          <a:latin typeface="Plus Jakarta Sans"/>
                        </a:rPr>
                        <a:t>Code Model Swap Failure</a:t>
                      </a:r>
                    </a:p>
                  </a:txBody>
                  <a:tcPr marL="352425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SFR-Embedding-Code-400M failed due to custom architecture compatibility error.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 dirty="0">
                          <a:solidFill>
                            <a:srgbClr val="334155"/>
                          </a:solidFill>
                          <a:latin typeface="Plus Jakarta Sans"/>
                        </a:rPr>
                        <a:t>Maintained functional baseline pipeline ready for code model integration upon library update.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3678">
                <a:tc>
                  <a:txBody>
                    <a:bodyPr/>
                    <a:lstStyle/>
                    <a:p>
                      <a:pPr algn="l"/>
                      <a:r>
                        <a:rPr sz="1500" b="1" i="0" u="none" dirty="0">
                          <a:solidFill>
                            <a:srgbClr val="D97706"/>
                          </a:solidFill>
                          <a:latin typeface="Plus Jakarta Sans"/>
                        </a:rPr>
                        <a:t>Memory Allocation Ceiling</a:t>
                      </a:r>
                    </a:p>
                  </a:txBody>
                  <a:tcPr marL="371475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Identifier splitting hook hit RAM thresholds during evaluation runs.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 dirty="0">
                          <a:solidFill>
                            <a:srgbClr val="334155"/>
                          </a:solidFill>
                          <a:latin typeface="Plus Jakarta Sans"/>
                        </a:rPr>
                        <a:t>Hook preserved in codebase (_</a:t>
                      </a:r>
                      <a:r>
                        <a:rPr sz="1275" b="0" i="0" u="none" dirty="0" err="1">
                          <a:solidFill>
                            <a:srgbClr val="334155"/>
                          </a:solidFill>
                          <a:latin typeface="Plus Jakarta Sans"/>
                        </a:rPr>
                        <a:t>preprocess_document</a:t>
                      </a:r>
                      <a:r>
                        <a:rPr sz="1275" b="0" i="0" u="none" dirty="0">
                          <a:solidFill>
                            <a:srgbClr val="334155"/>
                          </a:solidFill>
                          <a:latin typeface="Plus Jakarta Sans"/>
                        </a:rPr>
                        <a:t>) with toggle flag (USE_IDENTIFIER_SPLIT).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3678">
                <a:tc>
                  <a:txBody>
                    <a:bodyPr/>
                    <a:lstStyle/>
                    <a:p>
                      <a:pPr algn="l"/>
                      <a:r>
                        <a:rPr sz="1500" b="1" i="0" u="none" dirty="0">
                          <a:solidFill>
                            <a:srgbClr val="D97706"/>
                          </a:solidFill>
                          <a:latin typeface="Plus Jakarta Sans"/>
                        </a:rPr>
                        <a:t>Fixed Line Windowing</a:t>
                      </a:r>
                    </a:p>
                  </a:txBody>
                  <a:tcPr marL="352425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 dirty="0">
                          <a:solidFill>
                            <a:srgbClr val="334155"/>
                          </a:solidFill>
                          <a:latin typeface="Plus Jakarta Sans"/>
                        </a:rPr>
                        <a:t>Line-based windowing lacks AST awareness for class boundaries.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 dirty="0">
                          <a:solidFill>
                            <a:srgbClr val="334155"/>
                          </a:solidFill>
                          <a:latin typeface="Plus Jakarta Sans"/>
                        </a:rPr>
                        <a:t>30-line window / 15-line stride ensures functional coverage until AST parser is added.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169977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9"/>
          <p:cNvSpPr txBox="1">
            <a:spLocks noGrp="1"/>
          </p:cNvSpPr>
          <p:nvPr>
            <p:ph type="title"/>
          </p:nvPr>
        </p:nvSpPr>
        <p:spPr>
          <a:xfrm>
            <a:off x="404091" y="280554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lang="en-US" sz="4400" b="1" dirty="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What’s next</a:t>
            </a:r>
            <a:endParaRPr sz="4400" b="1" dirty="0">
              <a:solidFill>
                <a:srgbClr val="704EA6"/>
              </a:solidFill>
            </a:endParaRPr>
          </a:p>
        </p:txBody>
      </p:sp>
      <p:sp>
        <p:nvSpPr>
          <p:cNvPr id="3" name="Rounded Rectangle 1">
            <a:extLst>
              <a:ext uri="{FF2B5EF4-FFF2-40B4-BE49-F238E27FC236}">
                <a16:creationId xmlns:a16="http://schemas.microsoft.com/office/drawing/2014/main" id="{77A2CFE1-F4C4-7961-2C6A-645ED4280380}"/>
              </a:ext>
            </a:extLst>
          </p:cNvPr>
          <p:cNvSpPr/>
          <p:nvPr/>
        </p:nvSpPr>
        <p:spPr>
          <a:xfrm>
            <a:off x="609525" y="3677227"/>
            <a:ext cx="10972800" cy="952500"/>
          </a:xfrm>
          <a:prstGeom prst="roundRect">
            <a:avLst>
              <a:gd name="adj" fmla="val 16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2">
            <a:extLst>
              <a:ext uri="{FF2B5EF4-FFF2-40B4-BE49-F238E27FC236}">
                <a16:creationId xmlns:a16="http://schemas.microsoft.com/office/drawing/2014/main" id="{EA3DA082-5CC6-44C7-D719-99843552D080}"/>
              </a:ext>
            </a:extLst>
          </p:cNvPr>
          <p:cNvSpPr/>
          <p:nvPr/>
        </p:nvSpPr>
        <p:spPr>
          <a:xfrm>
            <a:off x="514275" y="4377314"/>
            <a:ext cx="10972800" cy="952500"/>
          </a:xfrm>
          <a:prstGeom prst="roundRect">
            <a:avLst>
              <a:gd name="adj" fmla="val 16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3">
            <a:extLst>
              <a:ext uri="{FF2B5EF4-FFF2-40B4-BE49-F238E27FC236}">
                <a16:creationId xmlns:a16="http://schemas.microsoft.com/office/drawing/2014/main" id="{8DC5DC5E-BB5D-EB1F-39DB-268BC87DDBF2}"/>
              </a:ext>
            </a:extLst>
          </p:cNvPr>
          <p:cNvSpPr/>
          <p:nvPr/>
        </p:nvSpPr>
        <p:spPr>
          <a:xfrm>
            <a:off x="609675" y="4828741"/>
            <a:ext cx="10972800" cy="952500"/>
          </a:xfrm>
          <a:prstGeom prst="roundRect">
            <a:avLst>
              <a:gd name="adj" fmla="val 16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1">
            <a:extLst>
              <a:ext uri="{FF2B5EF4-FFF2-40B4-BE49-F238E27FC236}">
                <a16:creationId xmlns:a16="http://schemas.microsoft.com/office/drawing/2014/main" id="{B7A5A9CD-0EA6-889B-F16C-C4DDC4105932}"/>
              </a:ext>
            </a:extLst>
          </p:cNvPr>
          <p:cNvSpPr/>
          <p:nvPr/>
        </p:nvSpPr>
        <p:spPr>
          <a:xfrm>
            <a:off x="514275" y="2343727"/>
            <a:ext cx="3308300" cy="2986087"/>
          </a:xfrm>
          <a:prstGeom prst="roundRect">
            <a:avLst>
              <a:gd name="adj" fmla="val 3454"/>
            </a:avLst>
          </a:prstGeom>
          <a:solidFill>
            <a:srgbClr val="F8FAFC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2">
            <a:extLst>
              <a:ext uri="{FF2B5EF4-FFF2-40B4-BE49-F238E27FC236}">
                <a16:creationId xmlns:a16="http://schemas.microsoft.com/office/drawing/2014/main" id="{92282FF2-38C6-9024-A4FB-30A3E444AD08}"/>
              </a:ext>
            </a:extLst>
          </p:cNvPr>
          <p:cNvSpPr/>
          <p:nvPr/>
        </p:nvSpPr>
        <p:spPr>
          <a:xfrm>
            <a:off x="4346450" y="2343727"/>
            <a:ext cx="3308300" cy="2986087"/>
          </a:xfrm>
          <a:prstGeom prst="roundRect">
            <a:avLst>
              <a:gd name="adj" fmla="val 3454"/>
            </a:avLst>
          </a:prstGeom>
          <a:solidFill>
            <a:srgbClr val="F8FAFC"/>
          </a:solidFill>
          <a:ln w="1905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3">
            <a:extLst>
              <a:ext uri="{FF2B5EF4-FFF2-40B4-BE49-F238E27FC236}">
                <a16:creationId xmlns:a16="http://schemas.microsoft.com/office/drawing/2014/main" id="{65C0770F-83D7-AF00-30F2-09202D4ECDEF}"/>
              </a:ext>
            </a:extLst>
          </p:cNvPr>
          <p:cNvSpPr/>
          <p:nvPr/>
        </p:nvSpPr>
        <p:spPr>
          <a:xfrm>
            <a:off x="8178625" y="2343727"/>
            <a:ext cx="3308300" cy="2986087"/>
          </a:xfrm>
          <a:prstGeom prst="roundRect">
            <a:avLst>
              <a:gd name="adj" fmla="val 3454"/>
            </a:avLst>
          </a:prstGeom>
          <a:solidFill>
            <a:srgbClr val="F8FAFC"/>
          </a:solidFill>
          <a:ln w="1905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4">
            <a:extLst>
              <a:ext uri="{FF2B5EF4-FFF2-40B4-BE49-F238E27FC236}">
                <a16:creationId xmlns:a16="http://schemas.microsoft.com/office/drawing/2014/main" id="{F8ECE395-20BE-97C2-B32F-166AFEEA0EC3}"/>
              </a:ext>
            </a:extLst>
          </p:cNvPr>
          <p:cNvSpPr/>
          <p:nvPr/>
        </p:nvSpPr>
        <p:spPr>
          <a:xfrm>
            <a:off x="800025" y="2629477"/>
            <a:ext cx="838200" cy="247650"/>
          </a:xfrm>
          <a:prstGeom prst="roundRect">
            <a:avLst>
              <a:gd name="adj" fmla="val 23076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5">
            <a:extLst>
              <a:ext uri="{FF2B5EF4-FFF2-40B4-BE49-F238E27FC236}">
                <a16:creationId xmlns:a16="http://schemas.microsoft.com/office/drawing/2014/main" id="{BE16F834-83B2-6D0C-2537-71B250C57D92}"/>
              </a:ext>
            </a:extLst>
          </p:cNvPr>
          <p:cNvSpPr/>
          <p:nvPr/>
        </p:nvSpPr>
        <p:spPr>
          <a:xfrm>
            <a:off x="4632200" y="2629477"/>
            <a:ext cx="838200" cy="247650"/>
          </a:xfrm>
          <a:prstGeom prst="roundRect">
            <a:avLst>
              <a:gd name="adj" fmla="val 23076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6">
            <a:extLst>
              <a:ext uri="{FF2B5EF4-FFF2-40B4-BE49-F238E27FC236}">
                <a16:creationId xmlns:a16="http://schemas.microsoft.com/office/drawing/2014/main" id="{8CB45A38-75AC-6DB4-649D-6211DD5C0618}"/>
              </a:ext>
            </a:extLst>
          </p:cNvPr>
          <p:cNvSpPr/>
          <p:nvPr/>
        </p:nvSpPr>
        <p:spPr>
          <a:xfrm>
            <a:off x="8464375" y="2629477"/>
            <a:ext cx="838200" cy="247650"/>
          </a:xfrm>
          <a:prstGeom prst="roundRect">
            <a:avLst>
              <a:gd name="adj" fmla="val 23076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image.png">
            <a:extLst>
              <a:ext uri="{FF2B5EF4-FFF2-40B4-BE49-F238E27FC236}">
                <a16:creationId xmlns:a16="http://schemas.microsoft.com/office/drawing/2014/main" id="{E932D819-9EB0-FF31-94D6-193CA9FCFE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3075" y="3877252"/>
            <a:ext cx="142875" cy="228600"/>
          </a:xfrm>
          <a:prstGeom prst="rect">
            <a:avLst/>
          </a:prstGeom>
        </p:spPr>
      </p:pic>
      <p:pic>
        <p:nvPicPr>
          <p:cNvPr id="28" name="Picture 27" descr="image.png">
            <a:extLst>
              <a:ext uri="{FF2B5EF4-FFF2-40B4-BE49-F238E27FC236}">
                <a16:creationId xmlns:a16="http://schemas.microsoft.com/office/drawing/2014/main" id="{5AF73595-313C-123F-139E-4815DBD947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250" y="3877252"/>
            <a:ext cx="142875" cy="228600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D5FFDD05-926F-3268-CA72-075B6F87FD5D}"/>
              </a:ext>
            </a:extLst>
          </p:cNvPr>
          <p:cNvSpPr txBox="1"/>
          <p:nvPr/>
        </p:nvSpPr>
        <p:spPr>
          <a:xfrm>
            <a:off x="914325" y="2667577"/>
            <a:ext cx="7048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FFFFFF"/>
                </a:solidFill>
                <a:latin typeface="JetBrains Mono"/>
              </a:rPr>
              <a:t>PHASE 01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FB41EC7-44EB-0E90-7720-595B671468F0}"/>
              </a:ext>
            </a:extLst>
          </p:cNvPr>
          <p:cNvSpPr txBox="1"/>
          <p:nvPr/>
        </p:nvSpPr>
        <p:spPr>
          <a:xfrm>
            <a:off x="800025" y="3029527"/>
            <a:ext cx="2973652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 dirty="0">
                <a:solidFill>
                  <a:srgbClr val="0F172A"/>
                </a:solidFill>
                <a:latin typeface="Plus Jakarta Sans"/>
              </a:rPr>
              <a:t>Code-Specialized Embeddings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BD8D3BE-499C-A9B4-8074-ED2AF46BFF15}"/>
              </a:ext>
            </a:extLst>
          </p:cNvPr>
          <p:cNvSpPr txBox="1"/>
          <p:nvPr/>
        </p:nvSpPr>
        <p:spPr>
          <a:xfrm>
            <a:off x="800025" y="3677227"/>
            <a:ext cx="2832050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 dirty="0">
                <a:solidFill>
                  <a:srgbClr val="475569"/>
                </a:solidFill>
                <a:latin typeface="Plus Jakarta Sans"/>
              </a:rPr>
              <a:t>Integrate dedicated code models (SFR-Embedding-Code) to reach 0.40+ NDCG benchmarks.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EA10B97-D6D4-5198-9509-75BA794647D7}"/>
              </a:ext>
            </a:extLst>
          </p:cNvPr>
          <p:cNvSpPr txBox="1"/>
          <p:nvPr/>
        </p:nvSpPr>
        <p:spPr>
          <a:xfrm>
            <a:off x="4746500" y="2667577"/>
            <a:ext cx="7048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F8FAFC"/>
                </a:solidFill>
                <a:latin typeface="JetBrains Mono"/>
              </a:rPr>
              <a:t>PHASE 02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D81FF20-88DA-F7A8-479F-D2BAF52B94B1}"/>
              </a:ext>
            </a:extLst>
          </p:cNvPr>
          <p:cNvSpPr txBox="1"/>
          <p:nvPr/>
        </p:nvSpPr>
        <p:spPr>
          <a:xfrm>
            <a:off x="4632200" y="3029527"/>
            <a:ext cx="3592050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Plus Jakarta Sans"/>
              </a:rPr>
              <a:t>AST-Aware Chunking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836B960-525A-F29B-BDC6-2844A5157899}"/>
              </a:ext>
            </a:extLst>
          </p:cNvPr>
          <p:cNvSpPr txBox="1"/>
          <p:nvPr/>
        </p:nvSpPr>
        <p:spPr>
          <a:xfrm>
            <a:off x="4632200" y="3720089"/>
            <a:ext cx="283205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 dirty="0">
                <a:solidFill>
                  <a:srgbClr val="475569"/>
                </a:solidFill>
                <a:latin typeface="Plus Jakarta Sans"/>
              </a:rPr>
              <a:t>Replace fixed line-window chunking with AST syntax tree function &amp; class parsers.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5EFFCD0-96F7-4F60-9115-83DDAF9DD58A}"/>
              </a:ext>
            </a:extLst>
          </p:cNvPr>
          <p:cNvSpPr txBox="1"/>
          <p:nvPr/>
        </p:nvSpPr>
        <p:spPr>
          <a:xfrm>
            <a:off x="8578675" y="2667577"/>
            <a:ext cx="7048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FFFFFF"/>
                </a:solidFill>
                <a:latin typeface="JetBrains Mono"/>
              </a:rPr>
              <a:t>PHASE 03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1C82211-5205-5DF3-E15E-798EE3152C91}"/>
              </a:ext>
            </a:extLst>
          </p:cNvPr>
          <p:cNvSpPr txBox="1"/>
          <p:nvPr/>
        </p:nvSpPr>
        <p:spPr>
          <a:xfrm>
            <a:off x="8464375" y="3029527"/>
            <a:ext cx="2973652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Plus Jakarta Sans"/>
              </a:rPr>
              <a:t>Call-Graph Structural Indexing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3A06224-C586-164C-48CB-BDF07C0DDC21}"/>
              </a:ext>
            </a:extLst>
          </p:cNvPr>
          <p:cNvSpPr txBox="1"/>
          <p:nvPr/>
        </p:nvSpPr>
        <p:spPr>
          <a:xfrm>
            <a:off x="8464375" y="3677227"/>
            <a:ext cx="283205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Index cross-file function call relationships for multi-step architecture queries.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1">
            <a:extLst>
              <a:ext uri="{FF2B5EF4-FFF2-40B4-BE49-F238E27FC236}">
                <a16:creationId xmlns:a16="http://schemas.microsoft.com/office/drawing/2014/main" id="{8314F879-9000-5F03-B65F-FCCFCE20D70A}"/>
              </a:ext>
            </a:extLst>
          </p:cNvPr>
          <p:cNvSpPr/>
          <p:nvPr/>
        </p:nvSpPr>
        <p:spPr>
          <a:xfrm>
            <a:off x="609600" y="1406134"/>
            <a:ext cx="5391150" cy="2419350"/>
          </a:xfrm>
          <a:prstGeom prst="roundRect">
            <a:avLst>
              <a:gd name="adj" fmla="val 4724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2">
            <a:extLst>
              <a:ext uri="{FF2B5EF4-FFF2-40B4-BE49-F238E27FC236}">
                <a16:creationId xmlns:a16="http://schemas.microsoft.com/office/drawing/2014/main" id="{0F1BED71-3192-1836-0620-6768B6A1269C}"/>
              </a:ext>
            </a:extLst>
          </p:cNvPr>
          <p:cNvSpPr/>
          <p:nvPr/>
        </p:nvSpPr>
        <p:spPr>
          <a:xfrm>
            <a:off x="6191250" y="1371600"/>
            <a:ext cx="5391150" cy="2419350"/>
          </a:xfrm>
          <a:prstGeom prst="roundRect">
            <a:avLst>
              <a:gd name="adj" fmla="val 4724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3">
            <a:extLst>
              <a:ext uri="{FF2B5EF4-FFF2-40B4-BE49-F238E27FC236}">
                <a16:creationId xmlns:a16="http://schemas.microsoft.com/office/drawing/2014/main" id="{7FF37731-CDF0-E9AA-B955-0B86EE98BCE8}"/>
              </a:ext>
            </a:extLst>
          </p:cNvPr>
          <p:cNvSpPr/>
          <p:nvPr/>
        </p:nvSpPr>
        <p:spPr>
          <a:xfrm>
            <a:off x="609600" y="3981450"/>
            <a:ext cx="5391150" cy="2419350"/>
          </a:xfrm>
          <a:prstGeom prst="roundRect">
            <a:avLst>
              <a:gd name="adj" fmla="val 4724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4">
            <a:extLst>
              <a:ext uri="{FF2B5EF4-FFF2-40B4-BE49-F238E27FC236}">
                <a16:creationId xmlns:a16="http://schemas.microsoft.com/office/drawing/2014/main" id="{27FD9C2F-100E-026B-0704-D8E9FDDC6569}"/>
              </a:ext>
            </a:extLst>
          </p:cNvPr>
          <p:cNvSpPr/>
          <p:nvPr/>
        </p:nvSpPr>
        <p:spPr>
          <a:xfrm>
            <a:off x="6191250" y="3981450"/>
            <a:ext cx="5391150" cy="2419350"/>
          </a:xfrm>
          <a:prstGeom prst="roundRect">
            <a:avLst>
              <a:gd name="adj" fmla="val 4724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5">
            <a:extLst>
              <a:ext uri="{FF2B5EF4-FFF2-40B4-BE49-F238E27FC236}">
                <a16:creationId xmlns:a16="http://schemas.microsoft.com/office/drawing/2014/main" id="{9AC3CC52-BBEB-D38A-154A-410FE3E985E9}"/>
              </a:ext>
            </a:extLst>
          </p:cNvPr>
          <p:cNvSpPr/>
          <p:nvPr/>
        </p:nvSpPr>
        <p:spPr>
          <a:xfrm>
            <a:off x="847725" y="3238500"/>
            <a:ext cx="2209800" cy="314325"/>
          </a:xfrm>
          <a:prstGeom prst="roundRect">
            <a:avLst>
              <a:gd name="adj" fmla="val 18181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6">
            <a:extLst>
              <a:ext uri="{FF2B5EF4-FFF2-40B4-BE49-F238E27FC236}">
                <a16:creationId xmlns:a16="http://schemas.microsoft.com/office/drawing/2014/main" id="{D3105417-F0D2-FA9B-5427-24018E07EBEE}"/>
              </a:ext>
            </a:extLst>
          </p:cNvPr>
          <p:cNvSpPr/>
          <p:nvPr/>
        </p:nvSpPr>
        <p:spPr>
          <a:xfrm>
            <a:off x="6429375" y="3238500"/>
            <a:ext cx="2133600" cy="314325"/>
          </a:xfrm>
          <a:prstGeom prst="roundRect">
            <a:avLst>
              <a:gd name="adj" fmla="val 18181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7">
            <a:extLst>
              <a:ext uri="{FF2B5EF4-FFF2-40B4-BE49-F238E27FC236}">
                <a16:creationId xmlns:a16="http://schemas.microsoft.com/office/drawing/2014/main" id="{EFAC8B38-C82D-53A2-8000-C6EB7F0560D1}"/>
              </a:ext>
            </a:extLst>
          </p:cNvPr>
          <p:cNvSpPr/>
          <p:nvPr/>
        </p:nvSpPr>
        <p:spPr>
          <a:xfrm>
            <a:off x="847725" y="5848350"/>
            <a:ext cx="2362200" cy="314325"/>
          </a:xfrm>
          <a:prstGeom prst="roundRect">
            <a:avLst>
              <a:gd name="adj" fmla="val 18181"/>
            </a:avLst>
          </a:prstGeom>
          <a:solidFill>
            <a:srgbClr val="F3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8">
            <a:extLst>
              <a:ext uri="{FF2B5EF4-FFF2-40B4-BE49-F238E27FC236}">
                <a16:creationId xmlns:a16="http://schemas.microsoft.com/office/drawing/2014/main" id="{C4F65509-5484-E686-F58C-05E3B59E0A71}"/>
              </a:ext>
            </a:extLst>
          </p:cNvPr>
          <p:cNvSpPr/>
          <p:nvPr/>
        </p:nvSpPr>
        <p:spPr>
          <a:xfrm>
            <a:off x="6429375" y="5848350"/>
            <a:ext cx="1905000" cy="314325"/>
          </a:xfrm>
          <a:prstGeom prst="roundRect">
            <a:avLst>
              <a:gd name="adj" fmla="val 18181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image.png">
            <a:extLst>
              <a:ext uri="{FF2B5EF4-FFF2-40B4-BE49-F238E27FC236}">
                <a16:creationId xmlns:a16="http://schemas.microsoft.com/office/drawing/2014/main" id="{72774060-E770-7CA3-E16F-37D6AC24BE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1628775"/>
            <a:ext cx="400050" cy="400050"/>
          </a:xfrm>
          <a:prstGeom prst="rect">
            <a:avLst/>
          </a:prstGeom>
        </p:spPr>
      </p:pic>
      <p:pic>
        <p:nvPicPr>
          <p:cNvPr id="23" name="Picture 22" descr="image.png">
            <a:extLst>
              <a:ext uri="{FF2B5EF4-FFF2-40B4-BE49-F238E27FC236}">
                <a16:creationId xmlns:a16="http://schemas.microsoft.com/office/drawing/2014/main" id="{E54924F0-F34B-8475-A9E3-A426FA7E02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9375" y="1628775"/>
            <a:ext cx="400050" cy="400050"/>
          </a:xfrm>
          <a:prstGeom prst="rect">
            <a:avLst/>
          </a:prstGeom>
        </p:spPr>
      </p:pic>
      <p:pic>
        <p:nvPicPr>
          <p:cNvPr id="25" name="Picture 24" descr="image.png">
            <a:extLst>
              <a:ext uri="{FF2B5EF4-FFF2-40B4-BE49-F238E27FC236}">
                <a16:creationId xmlns:a16="http://schemas.microsoft.com/office/drawing/2014/main" id="{6BB2C545-B88D-D4E2-8427-FBA6C2D3AC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725" y="4238625"/>
            <a:ext cx="400050" cy="400050"/>
          </a:xfrm>
          <a:prstGeom prst="rect">
            <a:avLst/>
          </a:prstGeom>
        </p:spPr>
      </p:pic>
      <p:pic>
        <p:nvPicPr>
          <p:cNvPr id="27" name="Picture 26" descr="image.png">
            <a:extLst>
              <a:ext uri="{FF2B5EF4-FFF2-40B4-BE49-F238E27FC236}">
                <a16:creationId xmlns:a16="http://schemas.microsoft.com/office/drawing/2014/main" id="{395EDD69-01B4-6655-1CD3-76D95B762C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9375" y="4238625"/>
            <a:ext cx="400050" cy="400050"/>
          </a:xfrm>
          <a:prstGeom prst="rect">
            <a:avLst/>
          </a:prstGeom>
        </p:spPr>
      </p:pic>
      <p:pic>
        <p:nvPicPr>
          <p:cNvPr id="29" name="Picture 28" descr="image.png">
            <a:extLst>
              <a:ext uri="{FF2B5EF4-FFF2-40B4-BE49-F238E27FC236}">
                <a16:creationId xmlns:a16="http://schemas.microsoft.com/office/drawing/2014/main" id="{569BE10B-4C26-5949-1BFF-77ED0A4AC80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6312" y="1733550"/>
            <a:ext cx="142875" cy="190500"/>
          </a:xfrm>
          <a:prstGeom prst="rect">
            <a:avLst/>
          </a:prstGeom>
        </p:spPr>
      </p:pic>
      <p:pic>
        <p:nvPicPr>
          <p:cNvPr id="31" name="Picture 30" descr="image.png">
            <a:extLst>
              <a:ext uri="{FF2B5EF4-FFF2-40B4-BE49-F238E27FC236}">
                <a16:creationId xmlns:a16="http://schemas.microsoft.com/office/drawing/2014/main" id="{2F05EDB2-8FE3-E8DC-7F7F-42838AB4F2D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10337" y="1733550"/>
            <a:ext cx="238125" cy="190500"/>
          </a:xfrm>
          <a:prstGeom prst="rect">
            <a:avLst/>
          </a:prstGeom>
        </p:spPr>
      </p:pic>
      <p:pic>
        <p:nvPicPr>
          <p:cNvPr id="33" name="Picture 32" descr="image.png">
            <a:extLst>
              <a:ext uri="{FF2B5EF4-FFF2-40B4-BE49-F238E27FC236}">
                <a16:creationId xmlns:a16="http://schemas.microsoft.com/office/drawing/2014/main" id="{C5706241-8B39-7FF0-9C78-8BFB0037E69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8687" y="4343400"/>
            <a:ext cx="238125" cy="190500"/>
          </a:xfrm>
          <a:prstGeom prst="rect">
            <a:avLst/>
          </a:prstGeom>
        </p:spPr>
      </p:pic>
      <p:pic>
        <p:nvPicPr>
          <p:cNvPr id="35" name="Picture 34" descr="image.png">
            <a:extLst>
              <a:ext uri="{FF2B5EF4-FFF2-40B4-BE49-F238E27FC236}">
                <a16:creationId xmlns:a16="http://schemas.microsoft.com/office/drawing/2014/main" id="{D34D5F0B-E8D3-4BA6-9C8B-F36C6898017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19862" y="4343400"/>
            <a:ext cx="219075" cy="190500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1DD9785F-2718-FE6B-6640-826C371A187C}"/>
              </a:ext>
            </a:extLst>
          </p:cNvPr>
          <p:cNvSpPr txBox="1"/>
          <p:nvPr/>
        </p:nvSpPr>
        <p:spPr>
          <a:xfrm>
            <a:off x="609600" y="189962"/>
            <a:ext cx="6258123" cy="67710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4400" b="1" i="0" u="none" dirty="0">
                <a:solidFill>
                  <a:srgbClr val="7030A0"/>
                </a:solidFill>
                <a:latin typeface="Plus Jakarta Sans"/>
              </a:rPr>
              <a:t>F</a:t>
            </a:r>
            <a:r>
              <a:rPr lang="en-US" sz="4400" b="1" i="0" u="none" dirty="0">
                <a:solidFill>
                  <a:srgbClr val="7030A0"/>
                </a:solidFill>
                <a:latin typeface="Plus Jakarta Sans"/>
              </a:rPr>
              <a:t>uture</a:t>
            </a:r>
            <a:r>
              <a:rPr sz="4400" b="1" i="0" u="none" dirty="0">
                <a:solidFill>
                  <a:srgbClr val="7030A0"/>
                </a:solidFill>
                <a:latin typeface="Plus Jakarta Sans"/>
              </a:rPr>
              <a:t> S</a:t>
            </a:r>
            <a:r>
              <a:rPr lang="en-US" sz="4400" b="1" i="0" u="none" dirty="0">
                <a:solidFill>
                  <a:srgbClr val="7030A0"/>
                </a:solidFill>
                <a:latin typeface="Plus Jakarta Sans"/>
              </a:rPr>
              <a:t>cope</a:t>
            </a:r>
            <a:r>
              <a:rPr sz="4400" b="1" i="0" u="none" dirty="0">
                <a:solidFill>
                  <a:srgbClr val="7030A0"/>
                </a:solidFill>
                <a:latin typeface="Plus Jakarta Sans"/>
              </a:rPr>
              <a:t> </a:t>
            </a:r>
            <a:r>
              <a:rPr lang="en-US" sz="4400" b="1" dirty="0">
                <a:solidFill>
                  <a:srgbClr val="7030A0"/>
                </a:solidFill>
                <a:latin typeface="Plus Jakarta Sans"/>
              </a:rPr>
              <a:t>and</a:t>
            </a:r>
            <a:r>
              <a:rPr sz="4400" b="1" i="0" u="none" dirty="0">
                <a:solidFill>
                  <a:srgbClr val="7030A0"/>
                </a:solidFill>
                <a:latin typeface="Plus Jakarta Sans"/>
              </a:rPr>
              <a:t> H</a:t>
            </a:r>
            <a:r>
              <a:rPr lang="en-US" sz="4400" b="1" i="0" u="none" dirty="0">
                <a:solidFill>
                  <a:srgbClr val="7030A0"/>
                </a:solidFill>
                <a:latin typeface="Plus Jakarta Sans"/>
              </a:rPr>
              <a:t>orizons</a:t>
            </a:r>
            <a:endParaRPr sz="4400" b="1" i="0" u="none" dirty="0">
              <a:solidFill>
                <a:srgbClr val="7030A0"/>
              </a:solidFill>
              <a:latin typeface="Plus Jakarta Sans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3FBD4A1-DEE6-97F4-81AE-AB8931099F73}"/>
              </a:ext>
            </a:extLst>
          </p:cNvPr>
          <p:cNvSpPr txBox="1"/>
          <p:nvPr/>
        </p:nvSpPr>
        <p:spPr>
          <a:xfrm>
            <a:off x="609600" y="835819"/>
            <a:ext cx="11582400" cy="4095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50" b="1" i="0" u="none" dirty="0">
                <a:solidFill>
                  <a:srgbClr val="0F172A"/>
                </a:solidFill>
                <a:latin typeface="Plus Jakarta Sans"/>
              </a:rPr>
              <a:t>Strategic Expansion &amp; Real-World Applications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9EC33EB-6744-6148-92F2-57314CFE1D24}"/>
              </a:ext>
            </a:extLst>
          </p:cNvPr>
          <p:cNvSpPr txBox="1"/>
          <p:nvPr/>
        </p:nvSpPr>
        <p:spPr>
          <a:xfrm>
            <a:off x="962025" y="3314700"/>
            <a:ext cx="207645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1D4ED8"/>
                </a:solidFill>
                <a:latin typeface="JetBrains Mono"/>
              </a:rPr>
              <a:t>VS Code / JetBrains Plugin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99140F0-8668-0669-F2AE-3ACAC32A83C2}"/>
              </a:ext>
            </a:extLst>
          </p:cNvPr>
          <p:cNvSpPr txBox="1"/>
          <p:nvPr/>
        </p:nvSpPr>
        <p:spPr>
          <a:xfrm>
            <a:off x="6543675" y="3314700"/>
            <a:ext cx="200025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47857"/>
                </a:solidFill>
                <a:latin typeface="JetBrains Mono"/>
              </a:rPr>
              <a:t>Agentic RAG Retriever API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D6D7535-71E0-8578-9F86-16F2903A1FE4}"/>
              </a:ext>
            </a:extLst>
          </p:cNvPr>
          <p:cNvSpPr txBox="1"/>
          <p:nvPr/>
        </p:nvSpPr>
        <p:spPr>
          <a:xfrm>
            <a:off x="962025" y="5924550"/>
            <a:ext cx="222885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6B21A8"/>
                </a:solidFill>
                <a:latin typeface="JetBrains Mono"/>
              </a:rPr>
              <a:t>Continuous Indexing Pipeline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9EAC8ED-1DCE-DB16-5A32-038A9E8BAFEC}"/>
              </a:ext>
            </a:extLst>
          </p:cNvPr>
          <p:cNvSpPr txBox="1"/>
          <p:nvPr/>
        </p:nvSpPr>
        <p:spPr>
          <a:xfrm>
            <a:off x="6543675" y="5924550"/>
            <a:ext cx="177165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B45309"/>
                </a:solidFill>
                <a:latin typeface="JetBrains Mono"/>
              </a:rPr>
              <a:t>Multi-Microservice RAG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C7F1BD1-E5D3-5B0B-FA84-0FB1A668264D}"/>
              </a:ext>
            </a:extLst>
          </p:cNvPr>
          <p:cNvSpPr txBox="1"/>
          <p:nvPr/>
        </p:nvSpPr>
        <p:spPr>
          <a:xfrm>
            <a:off x="847725" y="2319573"/>
            <a:ext cx="5010150" cy="6469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i="0" u="none" dirty="0">
                <a:solidFill>
                  <a:srgbClr val="475569"/>
                </a:solidFill>
                <a:latin typeface="Plus Jakarta Sans"/>
              </a:rPr>
              <a:t>Native VS Code and JetBrains extensions bringing instant, sub-100ms semantic code snippet lookup directly into developer editing environments on CPU.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5A63E92-BFFE-0331-AEF6-F974CC5D6BCE}"/>
              </a:ext>
            </a:extLst>
          </p:cNvPr>
          <p:cNvSpPr txBox="1"/>
          <p:nvPr/>
        </p:nvSpPr>
        <p:spPr>
          <a:xfrm>
            <a:off x="6429375" y="2272505"/>
            <a:ext cx="5010150" cy="6469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i="0" u="none" dirty="0">
                <a:solidFill>
                  <a:srgbClr val="475569"/>
                </a:solidFill>
                <a:latin typeface="Plus Jakarta Sans"/>
              </a:rPr>
              <a:t>Standardized Tool API plugin for autonomous coding agents (</a:t>
            </a:r>
            <a:r>
              <a:rPr b="0" i="0" u="none" dirty="0" err="1">
                <a:solidFill>
                  <a:srgbClr val="475569"/>
                </a:solidFill>
                <a:latin typeface="Plus Jakarta Sans"/>
              </a:rPr>
              <a:t>LangChain</a:t>
            </a:r>
            <a:r>
              <a:rPr b="0" i="0" u="none" dirty="0">
                <a:solidFill>
                  <a:srgbClr val="475569"/>
                </a:solidFill>
                <a:latin typeface="Plus Jakarta Sans"/>
              </a:rPr>
              <a:t> / </a:t>
            </a:r>
            <a:r>
              <a:rPr b="0" i="0" u="none" dirty="0" err="1">
                <a:solidFill>
                  <a:srgbClr val="475569"/>
                </a:solidFill>
                <a:latin typeface="Plus Jakarta Sans"/>
              </a:rPr>
              <a:t>AutoGen</a:t>
            </a:r>
            <a:r>
              <a:rPr b="0" i="0" u="none" dirty="0">
                <a:solidFill>
                  <a:srgbClr val="475569"/>
                </a:solidFill>
                <a:latin typeface="Plus Jakarta Sans"/>
              </a:rPr>
              <a:t> / Claude Code) to perform pinpoint, low-latency repository navigation.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9E290B2-3928-9C0A-955A-86A409A9E595}"/>
              </a:ext>
            </a:extLst>
          </p:cNvPr>
          <p:cNvSpPr txBox="1"/>
          <p:nvPr/>
        </p:nvSpPr>
        <p:spPr>
          <a:xfrm>
            <a:off x="847725" y="4924821"/>
            <a:ext cx="5010150" cy="6469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i="0" u="none" dirty="0">
                <a:solidFill>
                  <a:srgbClr val="475569"/>
                </a:solidFill>
                <a:latin typeface="Plus Jakarta Sans"/>
              </a:rPr>
              <a:t>Automated GitHub Actions/GitLab CI pipeline triggering incremental sliding-window re-indexing on new pull requests for instant version synchronization.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86A4AAB-948A-BC8F-D14B-46766C381261}"/>
              </a:ext>
            </a:extLst>
          </p:cNvPr>
          <p:cNvSpPr txBox="1"/>
          <p:nvPr/>
        </p:nvSpPr>
        <p:spPr>
          <a:xfrm>
            <a:off x="6429375" y="4920058"/>
            <a:ext cx="5010150" cy="6469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i="0" u="none" dirty="0">
                <a:solidFill>
                  <a:srgbClr val="475569"/>
                </a:solidFill>
                <a:latin typeface="Plus Jakarta Sans"/>
              </a:rPr>
              <a:t>Multi-repository semantic indexing linking microservice API boundaries, cross-repo function callers, and distributed system architecture maps.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500C8B7-27DD-C163-FA3E-1F179B1908FC}"/>
              </a:ext>
            </a:extLst>
          </p:cNvPr>
          <p:cNvSpPr txBox="1"/>
          <p:nvPr/>
        </p:nvSpPr>
        <p:spPr>
          <a:xfrm>
            <a:off x="1362075" y="1609725"/>
            <a:ext cx="28575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 dirty="0">
                <a:solidFill>
                  <a:srgbClr val="2563EB"/>
                </a:solidFill>
                <a:latin typeface="Plus Jakarta Sans"/>
              </a:rPr>
              <a:t>APPLICATION 01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7245877-6104-A77D-DEDF-FE1BD14A2188}"/>
              </a:ext>
            </a:extLst>
          </p:cNvPr>
          <p:cNvSpPr txBox="1"/>
          <p:nvPr/>
        </p:nvSpPr>
        <p:spPr>
          <a:xfrm>
            <a:off x="6943725" y="1609725"/>
            <a:ext cx="2867025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 dirty="0">
                <a:solidFill>
                  <a:srgbClr val="059669"/>
                </a:solidFill>
                <a:latin typeface="Plus Jakarta Sans"/>
              </a:rPr>
              <a:t>APPLICATION 02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681C120-6233-925D-C9FF-2317F08FE111}"/>
              </a:ext>
            </a:extLst>
          </p:cNvPr>
          <p:cNvSpPr txBox="1"/>
          <p:nvPr/>
        </p:nvSpPr>
        <p:spPr>
          <a:xfrm>
            <a:off x="1362075" y="4219575"/>
            <a:ext cx="2790825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 dirty="0">
                <a:solidFill>
                  <a:srgbClr val="7C3AED"/>
                </a:solidFill>
                <a:latin typeface="Plus Jakarta Sans"/>
              </a:rPr>
              <a:t>APPLICATION 03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A019EB7-D82A-E7B6-3282-1E91C920E5A8}"/>
              </a:ext>
            </a:extLst>
          </p:cNvPr>
          <p:cNvSpPr txBox="1"/>
          <p:nvPr/>
        </p:nvSpPr>
        <p:spPr>
          <a:xfrm>
            <a:off x="6943725" y="4219575"/>
            <a:ext cx="33147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 dirty="0">
                <a:solidFill>
                  <a:srgbClr val="D97706"/>
                </a:solidFill>
                <a:latin typeface="Plus Jakarta Sans"/>
              </a:rPr>
              <a:t>APPLICATION 04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57634F7A-C1DE-0CF5-ABFA-564FF7811FA2}"/>
              </a:ext>
            </a:extLst>
          </p:cNvPr>
          <p:cNvSpPr txBox="1"/>
          <p:nvPr/>
        </p:nvSpPr>
        <p:spPr>
          <a:xfrm>
            <a:off x="1362075" y="1809750"/>
            <a:ext cx="2691442" cy="2616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700" b="1" i="0" u="none" dirty="0">
                <a:solidFill>
                  <a:srgbClr val="0F172A"/>
                </a:solidFill>
                <a:latin typeface="Plus Jakarta Sans"/>
              </a:rPr>
              <a:t>IDE &amp; Local Developer Plugins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A1CC9A1-8093-3A77-732D-1A614252BB20}"/>
              </a:ext>
            </a:extLst>
          </p:cNvPr>
          <p:cNvSpPr txBox="1"/>
          <p:nvPr/>
        </p:nvSpPr>
        <p:spPr>
          <a:xfrm>
            <a:off x="6943725" y="1809750"/>
            <a:ext cx="2713884" cy="2616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700" b="1" i="0" u="none" dirty="0">
                <a:solidFill>
                  <a:srgbClr val="0F172A"/>
                </a:solidFill>
                <a:latin typeface="Plus Jakarta Sans"/>
              </a:rPr>
              <a:t>Autonomous AI Agent Tooling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8133D5B-E39B-F333-1E4D-A7AE1910C385}"/>
              </a:ext>
            </a:extLst>
          </p:cNvPr>
          <p:cNvSpPr txBox="1"/>
          <p:nvPr/>
        </p:nvSpPr>
        <p:spPr>
          <a:xfrm>
            <a:off x="1362075" y="4419600"/>
            <a:ext cx="2587247" cy="2616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700" b="1" i="0" u="none" dirty="0">
                <a:solidFill>
                  <a:srgbClr val="0F172A"/>
                </a:solidFill>
                <a:latin typeface="Plus Jakarta Sans"/>
              </a:rPr>
              <a:t>CI/CD Git Webhook Indexing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E5C1E4E2-B14B-9E6A-F275-3918DDCA2080}"/>
              </a:ext>
            </a:extLst>
          </p:cNvPr>
          <p:cNvSpPr txBox="1"/>
          <p:nvPr/>
        </p:nvSpPr>
        <p:spPr>
          <a:xfrm>
            <a:off x="6943725" y="4419600"/>
            <a:ext cx="3047309" cy="2616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700" b="1" i="0" u="none" dirty="0">
                <a:solidFill>
                  <a:srgbClr val="0F172A"/>
                </a:solidFill>
                <a:latin typeface="Plus Jakarta Sans"/>
              </a:rPr>
              <a:t>Cross-Repo Dependency Mapping</a:t>
            </a:r>
          </a:p>
        </p:txBody>
      </p:sp>
    </p:spTree>
    <p:extLst>
      <p:ext uri="{BB962C8B-B14F-4D97-AF65-F5344CB8AC3E}">
        <p14:creationId xmlns:p14="http://schemas.microsoft.com/office/powerpoint/2010/main" val="35733415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0"/>
          <p:cNvSpPr txBox="1">
            <a:spLocks noGrp="1"/>
          </p:cNvSpPr>
          <p:nvPr>
            <p:ph type="title"/>
          </p:nvPr>
        </p:nvSpPr>
        <p:spPr>
          <a:xfrm>
            <a:off x="570774" y="597693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lang="en-US" sz="4400" b="1" dirty="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Brownie points slide(differentiation)</a:t>
            </a:r>
            <a:endParaRPr sz="4400" b="1" dirty="0">
              <a:solidFill>
                <a:srgbClr val="704EA6"/>
              </a:solidFill>
            </a:endParaRPr>
          </a:p>
        </p:txBody>
      </p:sp>
      <p:sp>
        <p:nvSpPr>
          <p:cNvPr id="3" name="Rounded Rectangle 1">
            <a:extLst>
              <a:ext uri="{FF2B5EF4-FFF2-40B4-BE49-F238E27FC236}">
                <a16:creationId xmlns:a16="http://schemas.microsoft.com/office/drawing/2014/main" id="{9AA78287-77A7-7F8F-BD11-BDFA0BD36FDF}"/>
              </a:ext>
            </a:extLst>
          </p:cNvPr>
          <p:cNvSpPr/>
          <p:nvPr/>
        </p:nvSpPr>
        <p:spPr>
          <a:xfrm>
            <a:off x="609599" y="2933700"/>
            <a:ext cx="3609975" cy="2047875"/>
          </a:xfrm>
          <a:prstGeom prst="roundRect">
            <a:avLst>
              <a:gd name="adj" fmla="val 7441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2">
            <a:extLst>
              <a:ext uri="{FF2B5EF4-FFF2-40B4-BE49-F238E27FC236}">
                <a16:creationId xmlns:a16="http://schemas.microsoft.com/office/drawing/2014/main" id="{4E9C217A-E2D6-5679-E930-B0B28E5375A3}"/>
              </a:ext>
            </a:extLst>
          </p:cNvPr>
          <p:cNvSpPr/>
          <p:nvPr/>
        </p:nvSpPr>
        <p:spPr>
          <a:xfrm>
            <a:off x="4343399" y="2933700"/>
            <a:ext cx="3609975" cy="2047875"/>
          </a:xfrm>
          <a:prstGeom prst="roundRect">
            <a:avLst>
              <a:gd name="adj" fmla="val 7441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3">
            <a:extLst>
              <a:ext uri="{FF2B5EF4-FFF2-40B4-BE49-F238E27FC236}">
                <a16:creationId xmlns:a16="http://schemas.microsoft.com/office/drawing/2014/main" id="{32236834-BC7E-693C-DAD8-AB379404BCF2}"/>
              </a:ext>
            </a:extLst>
          </p:cNvPr>
          <p:cNvSpPr/>
          <p:nvPr/>
        </p:nvSpPr>
        <p:spPr>
          <a:xfrm>
            <a:off x="8077200" y="2933700"/>
            <a:ext cx="3505200" cy="2047875"/>
          </a:xfrm>
          <a:prstGeom prst="roundRect">
            <a:avLst>
              <a:gd name="adj" fmla="val 7441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.png">
            <a:extLst>
              <a:ext uri="{FF2B5EF4-FFF2-40B4-BE49-F238E27FC236}">
                <a16:creationId xmlns:a16="http://schemas.microsoft.com/office/drawing/2014/main" id="{6A53559B-2BAE-1DAD-0461-881DD7B636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300" y="3238500"/>
            <a:ext cx="457200" cy="457200"/>
          </a:xfrm>
          <a:prstGeom prst="rect">
            <a:avLst/>
          </a:prstGeom>
        </p:spPr>
      </p:pic>
      <p:pic>
        <p:nvPicPr>
          <p:cNvPr id="11" name="Picture 10" descr="image.png">
            <a:extLst>
              <a:ext uri="{FF2B5EF4-FFF2-40B4-BE49-F238E27FC236}">
                <a16:creationId xmlns:a16="http://schemas.microsoft.com/office/drawing/2014/main" id="{20321352-A08E-9EFA-58C6-2CB2C443C2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0100" y="3238500"/>
            <a:ext cx="457200" cy="457200"/>
          </a:xfrm>
          <a:prstGeom prst="rect">
            <a:avLst/>
          </a:prstGeom>
        </p:spPr>
      </p:pic>
      <p:pic>
        <p:nvPicPr>
          <p:cNvPr id="13" name="Picture 12" descr="image.png">
            <a:extLst>
              <a:ext uri="{FF2B5EF4-FFF2-40B4-BE49-F238E27FC236}">
                <a16:creationId xmlns:a16="http://schemas.microsoft.com/office/drawing/2014/main" id="{18826E66-2523-BF92-44EF-46C092F953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3900" y="3238500"/>
            <a:ext cx="457200" cy="457200"/>
          </a:xfrm>
          <a:prstGeom prst="rect">
            <a:avLst/>
          </a:prstGeom>
        </p:spPr>
      </p:pic>
      <p:pic>
        <p:nvPicPr>
          <p:cNvPr id="15" name="Picture 14" descr="image.png">
            <a:extLst>
              <a:ext uri="{FF2B5EF4-FFF2-40B4-BE49-F238E27FC236}">
                <a16:creationId xmlns:a16="http://schemas.microsoft.com/office/drawing/2014/main" id="{20FDEE63-4EB9-668B-C82D-9F4A22C705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0125" y="3362325"/>
            <a:ext cx="209550" cy="209550"/>
          </a:xfrm>
          <a:prstGeom prst="rect">
            <a:avLst/>
          </a:prstGeom>
        </p:spPr>
      </p:pic>
      <p:pic>
        <p:nvPicPr>
          <p:cNvPr id="17" name="Picture 16" descr="image.png">
            <a:extLst>
              <a:ext uri="{FF2B5EF4-FFF2-40B4-BE49-F238E27FC236}">
                <a16:creationId xmlns:a16="http://schemas.microsoft.com/office/drawing/2014/main" id="{138FE306-BB58-1020-1E90-505C193B54F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7737" y="3362325"/>
            <a:ext cx="161925" cy="209550"/>
          </a:xfrm>
          <a:prstGeom prst="rect">
            <a:avLst/>
          </a:prstGeom>
        </p:spPr>
      </p:pic>
      <p:pic>
        <p:nvPicPr>
          <p:cNvPr id="19" name="Picture 18" descr="image.png">
            <a:extLst>
              <a:ext uri="{FF2B5EF4-FFF2-40B4-BE49-F238E27FC236}">
                <a16:creationId xmlns:a16="http://schemas.microsoft.com/office/drawing/2014/main" id="{84DC01C6-C6A7-16BE-9D14-4F3657940C5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67725" y="3362325"/>
            <a:ext cx="209550" cy="20955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F46DEF74-3654-D76B-E01B-253A344F1EE1}"/>
              </a:ext>
            </a:extLst>
          </p:cNvPr>
          <p:cNvSpPr txBox="1"/>
          <p:nvPr/>
        </p:nvSpPr>
        <p:spPr>
          <a:xfrm>
            <a:off x="876300" y="3886200"/>
            <a:ext cx="3207032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000" b="1" i="0" u="none" dirty="0">
                <a:solidFill>
                  <a:srgbClr val="0F172A"/>
                </a:solidFill>
                <a:latin typeface="Plus Jakarta Sans"/>
              </a:rPr>
              <a:t>Zero GPU Hardware Overhead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DF90853-EC85-62E5-EB57-A8B1DFC4AE40}"/>
              </a:ext>
            </a:extLst>
          </p:cNvPr>
          <p:cNvSpPr txBox="1"/>
          <p:nvPr/>
        </p:nvSpPr>
        <p:spPr>
          <a:xfrm>
            <a:off x="876300" y="4238625"/>
            <a:ext cx="3067050" cy="4462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0" i="0" u="none" dirty="0">
                <a:solidFill>
                  <a:srgbClr val="475569"/>
                </a:solidFill>
                <a:latin typeface="Plus Jakarta Sans"/>
              </a:rPr>
              <a:t>Runs efficiently on standard commodity developer CPU laptops.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9F91D1C-D8C1-95B7-A708-E9584706DA4F}"/>
              </a:ext>
            </a:extLst>
          </p:cNvPr>
          <p:cNvSpPr txBox="1"/>
          <p:nvPr/>
        </p:nvSpPr>
        <p:spPr>
          <a:xfrm>
            <a:off x="4610100" y="3886200"/>
            <a:ext cx="2436949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000" b="1" i="0" u="none" dirty="0">
                <a:solidFill>
                  <a:srgbClr val="0F172A"/>
                </a:solidFill>
                <a:latin typeface="Plus Jakarta Sans"/>
              </a:rPr>
              <a:t>Precise Line Grounding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25825A2-F141-2E8F-977B-7DBE777A63D7}"/>
              </a:ext>
            </a:extLst>
          </p:cNvPr>
          <p:cNvSpPr txBox="1"/>
          <p:nvPr/>
        </p:nvSpPr>
        <p:spPr>
          <a:xfrm>
            <a:off x="4610100" y="4238625"/>
            <a:ext cx="3067050" cy="4462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0" i="0" u="none" dirty="0">
                <a:solidFill>
                  <a:srgbClr val="475569"/>
                </a:solidFill>
                <a:latin typeface="Plus Jakarta Sans"/>
              </a:rPr>
              <a:t>Pinpoints exact file path and starting/ending line boundaries.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E21E55D-A545-FD84-7537-EDFF9AB95069}"/>
              </a:ext>
            </a:extLst>
          </p:cNvPr>
          <p:cNvSpPr txBox="1"/>
          <p:nvPr/>
        </p:nvSpPr>
        <p:spPr>
          <a:xfrm>
            <a:off x="8343900" y="3886200"/>
            <a:ext cx="2406877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000" b="1" i="0" u="none" dirty="0">
                <a:solidFill>
                  <a:srgbClr val="0F172A"/>
                </a:solidFill>
                <a:latin typeface="Plus Jakarta Sans"/>
              </a:rPr>
              <a:t>Modular Tuning Hooks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443B6EA-EA9F-1A6D-4B27-81BA2C820552}"/>
              </a:ext>
            </a:extLst>
          </p:cNvPr>
          <p:cNvSpPr txBox="1"/>
          <p:nvPr/>
        </p:nvSpPr>
        <p:spPr>
          <a:xfrm>
            <a:off x="8343900" y="4238625"/>
            <a:ext cx="3067050" cy="4462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0" i="0" u="none" dirty="0">
                <a:solidFill>
                  <a:srgbClr val="475569"/>
                </a:solidFill>
                <a:latin typeface="Plus Jakarta Sans"/>
              </a:rPr>
              <a:t>Includes pre-built identifier splitting hooks for independent tuning.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lang="en-US" b="1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Checklist- Updated on Public GitHub</a:t>
            </a:r>
            <a:endParaRPr/>
          </a:p>
        </p:txBody>
      </p:sp>
      <p:sp>
        <p:nvSpPr>
          <p:cNvPr id="156" name="Google Shape;156;p1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7780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3637E"/>
              </a:buClr>
              <a:buSzPts val="2800"/>
              <a:buChar char="•"/>
            </a:pPr>
            <a:r>
              <a:rPr lang="en-US" sz="2800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Working prototype code — public or shared GitHub repo (Y</a:t>
            </a:r>
            <a:r>
              <a:rPr lang="en-US" dirty="0">
                <a:solidFill>
                  <a:srgbClr val="63637E"/>
                </a:solidFill>
              </a:rPr>
              <a:t>ES)</a:t>
            </a:r>
            <a:endParaRPr sz="2800" dirty="0"/>
          </a:p>
          <a:p>
            <a:pPr marL="177800" lvl="0" indent="-1778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63637E"/>
              </a:buClr>
              <a:buSzPts val="2800"/>
              <a:buChar char="•"/>
            </a:pPr>
            <a:r>
              <a:rPr lang="en-US" sz="2800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README with reproducible setup instructions (Y</a:t>
            </a:r>
            <a:r>
              <a:rPr lang="en-US" dirty="0">
                <a:solidFill>
                  <a:srgbClr val="63637E"/>
                </a:solidFill>
              </a:rPr>
              <a:t>ES)</a:t>
            </a:r>
            <a:endParaRPr sz="2800" dirty="0"/>
          </a:p>
          <a:p>
            <a:pPr marL="177800" lvl="0" indent="-1778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63637E"/>
              </a:buClr>
              <a:buSzPts val="2800"/>
              <a:buChar char="•"/>
            </a:pPr>
            <a:r>
              <a:rPr lang="en-US" sz="2800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Demo video, max 5 minutes (YouTube or Drive link)</a:t>
            </a:r>
            <a:endParaRPr sz="2800" dirty="0"/>
          </a:p>
          <a:p>
            <a:pPr marL="177800" lvl="0" indent="-1778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63637E"/>
              </a:buClr>
              <a:buSzPts val="2800"/>
              <a:buChar char="•"/>
            </a:pPr>
            <a:r>
              <a:rPr lang="en-US" sz="2800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Presentation file (PPT or PDF) (Y</a:t>
            </a:r>
            <a:r>
              <a:rPr lang="en-US" dirty="0">
                <a:solidFill>
                  <a:srgbClr val="63637E"/>
                </a:solidFill>
              </a:rPr>
              <a:t>ES)</a:t>
            </a:r>
            <a:endParaRPr sz="2800" dirty="0"/>
          </a:p>
          <a:p>
            <a:pPr marL="0" lvl="0" indent="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ounded Rectangle 1">
            <a:extLst>
              <a:ext uri="{FF2B5EF4-FFF2-40B4-BE49-F238E27FC236}">
                <a16:creationId xmlns:a16="http://schemas.microsoft.com/office/drawing/2014/main" id="{514B256C-233E-C9A8-62DA-AE7F1CF3BB3C}"/>
              </a:ext>
            </a:extLst>
          </p:cNvPr>
          <p:cNvSpPr/>
          <p:nvPr/>
        </p:nvSpPr>
        <p:spPr>
          <a:xfrm>
            <a:off x="609600" y="2304288"/>
            <a:ext cx="5372100" cy="3392424"/>
          </a:xfrm>
          <a:prstGeom prst="roundRect">
            <a:avLst>
              <a:gd name="adj" fmla="val 2272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45" name="Rounded Rectangle 2">
            <a:extLst>
              <a:ext uri="{FF2B5EF4-FFF2-40B4-BE49-F238E27FC236}">
                <a16:creationId xmlns:a16="http://schemas.microsoft.com/office/drawing/2014/main" id="{3662AB03-0751-CC19-A11D-03B55B35AD4C}"/>
              </a:ext>
            </a:extLst>
          </p:cNvPr>
          <p:cNvSpPr/>
          <p:nvPr/>
        </p:nvSpPr>
        <p:spPr>
          <a:xfrm>
            <a:off x="6210300" y="2304288"/>
            <a:ext cx="5372100" cy="3392424"/>
          </a:xfrm>
          <a:prstGeom prst="roundRect">
            <a:avLst>
              <a:gd name="adj" fmla="val 2272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9954B5F3-4A10-A3DE-0D52-06A837A1AFB4}"/>
              </a:ext>
            </a:extLst>
          </p:cNvPr>
          <p:cNvSpPr/>
          <p:nvPr/>
        </p:nvSpPr>
        <p:spPr>
          <a:xfrm>
            <a:off x="847725" y="2542413"/>
            <a:ext cx="4895850" cy="3524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C187E987-BF31-2624-6D0E-89C434EFED84}"/>
              </a:ext>
            </a:extLst>
          </p:cNvPr>
          <p:cNvSpPr/>
          <p:nvPr/>
        </p:nvSpPr>
        <p:spPr>
          <a:xfrm>
            <a:off x="6448425" y="2542413"/>
            <a:ext cx="4895850" cy="3524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174AE5D4-7B3F-9D9F-D652-9D24A62B3D34}"/>
              </a:ext>
            </a:extLst>
          </p:cNvPr>
          <p:cNvSpPr/>
          <p:nvPr/>
        </p:nvSpPr>
        <p:spPr>
          <a:xfrm>
            <a:off x="847725" y="2875788"/>
            <a:ext cx="489585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2A4CE505-0266-D225-38AD-E0700DD16DDA}"/>
              </a:ext>
            </a:extLst>
          </p:cNvPr>
          <p:cNvSpPr/>
          <p:nvPr/>
        </p:nvSpPr>
        <p:spPr>
          <a:xfrm>
            <a:off x="6448425" y="2875788"/>
            <a:ext cx="489585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5" name="Picture 54" descr="image.png">
            <a:extLst>
              <a:ext uri="{FF2B5EF4-FFF2-40B4-BE49-F238E27FC236}">
                <a16:creationId xmlns:a16="http://schemas.microsoft.com/office/drawing/2014/main" id="{D2F6578A-D5B7-ABBC-0296-B9C6FA0A95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999" y="2566225"/>
            <a:ext cx="238176" cy="264640"/>
          </a:xfrm>
          <a:prstGeom prst="rect">
            <a:avLst/>
          </a:prstGeom>
        </p:spPr>
      </p:pic>
      <p:pic>
        <p:nvPicPr>
          <p:cNvPr id="57" name="Picture 56" descr="image.png">
            <a:extLst>
              <a:ext uri="{FF2B5EF4-FFF2-40B4-BE49-F238E27FC236}">
                <a16:creationId xmlns:a16="http://schemas.microsoft.com/office/drawing/2014/main" id="{EBC41491-E456-78BB-2898-7057C064FB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2566224"/>
            <a:ext cx="264795" cy="294217"/>
          </a:xfrm>
          <a:prstGeom prst="rect">
            <a:avLst/>
          </a:prstGeom>
        </p:spPr>
      </p:pic>
      <p:sp>
        <p:nvSpPr>
          <p:cNvPr id="61" name="TextBox 60">
            <a:extLst>
              <a:ext uri="{FF2B5EF4-FFF2-40B4-BE49-F238E27FC236}">
                <a16:creationId xmlns:a16="http://schemas.microsoft.com/office/drawing/2014/main" id="{A82A236A-C7AA-FEEA-FD09-81E7466723A6}"/>
              </a:ext>
            </a:extLst>
          </p:cNvPr>
          <p:cNvSpPr txBox="1"/>
          <p:nvPr/>
        </p:nvSpPr>
        <p:spPr>
          <a:xfrm>
            <a:off x="609600" y="716018"/>
            <a:ext cx="8965596" cy="67710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4400" b="1" i="0" u="none" dirty="0">
                <a:solidFill>
                  <a:srgbClr val="7030A0"/>
                </a:solidFill>
                <a:latin typeface="Plus Jakarta Sans"/>
              </a:rPr>
              <a:t>References &amp; Framework Foundations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D9D8948-7BD5-690A-06FC-F6AC2FE57AB7}"/>
              </a:ext>
            </a:extLst>
          </p:cNvPr>
          <p:cNvSpPr txBox="1"/>
          <p:nvPr/>
        </p:nvSpPr>
        <p:spPr>
          <a:xfrm>
            <a:off x="1114425" y="2542413"/>
            <a:ext cx="3241272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 dirty="0">
                <a:solidFill>
                  <a:srgbClr val="0F172A"/>
                </a:solidFill>
                <a:latin typeface="Plus Jakarta Sans"/>
              </a:rPr>
              <a:t>1. Benchmarks &amp; Research Papers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E44985B6-534A-9A03-C7A5-F75A02AB1640}"/>
              </a:ext>
            </a:extLst>
          </p:cNvPr>
          <p:cNvSpPr txBox="1"/>
          <p:nvPr/>
        </p:nvSpPr>
        <p:spPr>
          <a:xfrm>
            <a:off x="847725" y="3045523"/>
            <a:ext cx="2638543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1" i="0" u="none" dirty="0" err="1">
                <a:solidFill>
                  <a:srgbClr val="0F172A"/>
                </a:solidFill>
                <a:latin typeface="Plus Jakarta Sans"/>
              </a:rPr>
              <a:t>CoIR</a:t>
            </a:r>
            <a:r>
              <a:rPr sz="1600" b="1" i="0" u="none" dirty="0">
                <a:solidFill>
                  <a:srgbClr val="0F172A"/>
                </a:solidFill>
                <a:latin typeface="Plus Jakarta Sans"/>
              </a:rPr>
              <a:t> </a:t>
            </a:r>
            <a:r>
              <a:rPr sz="1600" b="1" i="0" u="none" dirty="0" err="1">
                <a:solidFill>
                  <a:srgbClr val="0F172A"/>
                </a:solidFill>
                <a:latin typeface="Plus Jakarta Sans"/>
              </a:rPr>
              <a:t>AppsRetrieval</a:t>
            </a:r>
            <a:r>
              <a:rPr sz="1600" b="1" i="0" u="none" dirty="0">
                <a:solidFill>
                  <a:srgbClr val="0F172A"/>
                </a:solidFill>
                <a:latin typeface="Plus Jakarta Sans"/>
              </a:rPr>
              <a:t> Benchmark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AEEA69A-8579-C4C7-D142-0F93A2E5B295}"/>
              </a:ext>
            </a:extLst>
          </p:cNvPr>
          <p:cNvSpPr txBox="1"/>
          <p:nvPr/>
        </p:nvSpPr>
        <p:spPr>
          <a:xfrm>
            <a:off x="847725" y="3336667"/>
            <a:ext cx="3924151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 dirty="0">
                <a:solidFill>
                  <a:srgbClr val="475569"/>
                </a:solidFill>
                <a:latin typeface="Plus Jakarta Sans"/>
              </a:rPr>
              <a:t>3,765 queries &amp; 8,765 code snippets test split evaluation suite.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E3D3113-0064-4B56-F900-9A63FB939EEE}"/>
              </a:ext>
            </a:extLst>
          </p:cNvPr>
          <p:cNvSpPr txBox="1"/>
          <p:nvPr/>
        </p:nvSpPr>
        <p:spPr>
          <a:xfrm>
            <a:off x="847725" y="3813750"/>
            <a:ext cx="2701060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1" i="0" u="none">
                <a:solidFill>
                  <a:srgbClr val="0F172A"/>
                </a:solidFill>
                <a:latin typeface="Plus Jakarta Sans"/>
              </a:rPr>
              <a:t>MTEB Framework (AbsEncoder)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AA8A7B28-E5C1-A77C-1A1A-204801411169}"/>
              </a:ext>
            </a:extLst>
          </p:cNvPr>
          <p:cNvSpPr txBox="1"/>
          <p:nvPr/>
        </p:nvSpPr>
        <p:spPr>
          <a:xfrm>
            <a:off x="847725" y="4104894"/>
            <a:ext cx="4321696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 dirty="0">
                <a:solidFill>
                  <a:srgbClr val="475569"/>
                </a:solidFill>
                <a:latin typeface="Plus Jakarta Sans"/>
              </a:rPr>
              <a:t>Massive Text Embedding Benchmark harness for NDCG/MRR scoring.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5BD581F0-5B95-86CF-4A8F-56D0F84CB16B}"/>
              </a:ext>
            </a:extLst>
          </p:cNvPr>
          <p:cNvSpPr txBox="1"/>
          <p:nvPr/>
        </p:nvSpPr>
        <p:spPr>
          <a:xfrm>
            <a:off x="847725" y="4578358"/>
            <a:ext cx="4090863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1" i="0" u="none">
                <a:solidFill>
                  <a:srgbClr val="0F172A"/>
                </a:solidFill>
                <a:latin typeface="Plus Jakarta Sans"/>
              </a:rPr>
              <a:t>BAAI/bge-small-en-v1.5 &amp; SFR-Embedding-Code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00BD89CE-F837-6EA3-3A94-CC3D8155A533}"/>
              </a:ext>
            </a:extLst>
          </p:cNvPr>
          <p:cNvSpPr txBox="1"/>
          <p:nvPr/>
        </p:nvSpPr>
        <p:spPr>
          <a:xfrm>
            <a:off x="847725" y="4869502"/>
            <a:ext cx="4486806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Plus Jakarta Sans"/>
              </a:rPr>
              <a:t>Xiao et al. (2023) &amp; Salesforce AI Research (2024) dense code encoders.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18C70094-CDBF-D470-0AB7-9BB6913AB639}"/>
              </a:ext>
            </a:extLst>
          </p:cNvPr>
          <p:cNvSpPr txBox="1"/>
          <p:nvPr/>
        </p:nvSpPr>
        <p:spPr>
          <a:xfrm>
            <a:off x="6715125" y="2542413"/>
            <a:ext cx="3560270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 dirty="0">
                <a:solidFill>
                  <a:srgbClr val="0F172A"/>
                </a:solidFill>
                <a:latin typeface="Plus Jakarta Sans"/>
              </a:rPr>
              <a:t>2. Software Stack &amp; Submission Repo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2FEA1D44-ADE6-814A-5834-CD8DE2653E0F}"/>
              </a:ext>
            </a:extLst>
          </p:cNvPr>
          <p:cNvSpPr txBox="1"/>
          <p:nvPr/>
        </p:nvSpPr>
        <p:spPr>
          <a:xfrm>
            <a:off x="6448425" y="3045523"/>
            <a:ext cx="1998945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1" i="0" u="none">
                <a:solidFill>
                  <a:srgbClr val="0F172A"/>
                </a:solidFill>
                <a:latin typeface="Plus Jakarta Sans"/>
              </a:rPr>
              <a:t>Core Compute Libraries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9148DAD4-F9C5-4865-EA57-BE743F04617F}"/>
              </a:ext>
            </a:extLst>
          </p:cNvPr>
          <p:cNvSpPr txBox="1"/>
          <p:nvPr/>
        </p:nvSpPr>
        <p:spPr>
          <a:xfrm>
            <a:off x="6448425" y="3336667"/>
            <a:ext cx="49911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Plus Jakarta Sans"/>
              </a:rPr>
              <a:t>sentence-transformers &amp; NumPy normalized dot-product matrix search.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3B1FD90-94FF-6E40-FD81-E642739E7EFC}"/>
              </a:ext>
            </a:extLst>
          </p:cNvPr>
          <p:cNvSpPr txBox="1"/>
          <p:nvPr/>
        </p:nvSpPr>
        <p:spPr>
          <a:xfrm>
            <a:off x="6448425" y="3817238"/>
            <a:ext cx="2075889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1" i="0" u="none" dirty="0">
                <a:solidFill>
                  <a:srgbClr val="0F172A"/>
                </a:solidFill>
                <a:latin typeface="Plus Jakarta Sans"/>
              </a:rPr>
              <a:t>GitHub Release Artifacts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95F1B108-493A-3952-B66F-D74966E945C8}"/>
              </a:ext>
            </a:extLst>
          </p:cNvPr>
          <p:cNvSpPr txBox="1"/>
          <p:nvPr/>
        </p:nvSpPr>
        <p:spPr>
          <a:xfrm>
            <a:off x="6448425" y="4108382"/>
            <a:ext cx="2633734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 dirty="0" err="1">
                <a:solidFill>
                  <a:srgbClr val="2563EB"/>
                </a:solidFill>
                <a:latin typeface="JetBrains Mono"/>
              </a:rPr>
              <a:t>Thapar_Bandits</a:t>
            </a:r>
            <a:r>
              <a:rPr sz="1200" b="0" i="0" u="none" dirty="0">
                <a:solidFill>
                  <a:srgbClr val="2563EB"/>
                </a:solidFill>
                <a:latin typeface="JetBrains Mono"/>
              </a:rPr>
              <a:t>-Agentic-Code-Intelligence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236C17F0-365F-D0D5-E012-F5112D6E854A}"/>
              </a:ext>
            </a:extLst>
          </p:cNvPr>
          <p:cNvSpPr txBox="1"/>
          <p:nvPr/>
        </p:nvSpPr>
        <p:spPr>
          <a:xfrm>
            <a:off x="6448425" y="4588895"/>
            <a:ext cx="1849865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1" i="0" u="none" dirty="0">
                <a:solidFill>
                  <a:srgbClr val="0F172A"/>
                </a:solidFill>
                <a:latin typeface="Plus Jakarta Sans"/>
              </a:rPr>
              <a:t>Submitted Script Files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48F482E8-2889-08FB-5D36-F47ABC27CC6F}"/>
              </a:ext>
            </a:extLst>
          </p:cNvPr>
          <p:cNvSpPr txBox="1"/>
          <p:nvPr/>
        </p:nvSpPr>
        <p:spPr>
          <a:xfrm>
            <a:off x="6448425" y="4880039"/>
            <a:ext cx="3678892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059669"/>
                </a:solidFill>
                <a:latin typeface="JetBrains Mono"/>
              </a:rPr>
              <a:t>baselineencoder.py • demo.py • appsretrieval_results.json</a:t>
            </a:r>
          </a:p>
        </p:txBody>
      </p:sp>
    </p:spTree>
    <p:extLst>
      <p:ext uri="{BB962C8B-B14F-4D97-AF65-F5344CB8AC3E}">
        <p14:creationId xmlns:p14="http://schemas.microsoft.com/office/powerpoint/2010/main" val="1567277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2"/>
          <p:cNvSpPr txBox="1"/>
          <p:nvPr/>
        </p:nvSpPr>
        <p:spPr>
          <a:xfrm>
            <a:off x="1046181" y="3730214"/>
            <a:ext cx="676656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142B"/>
              </a:buClr>
              <a:buSzPts val="4600"/>
              <a:buFont typeface="Arial"/>
              <a:buNone/>
            </a:pPr>
            <a:r>
              <a:rPr lang="en-US" sz="4600" b="1" i="0" u="none" strike="noStrike" cap="none">
                <a:solidFill>
                  <a:srgbClr val="14142B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sz="4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2"/>
          <p:cNvSpPr txBox="1"/>
          <p:nvPr/>
        </p:nvSpPr>
        <p:spPr>
          <a:xfrm>
            <a:off x="777240" y="5897880"/>
            <a:ext cx="106070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3637E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Organised by the Language AI Team and the PRISM Team, Samsung R&amp;D Institute India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213</TotalTime>
  <Words>1227</Words>
  <Application>Microsoft Office PowerPoint</Application>
  <PresentationFormat>Widescreen</PresentationFormat>
  <Paragraphs>190</Paragraphs>
  <Slides>15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JetBrains Mono</vt:lpstr>
      <vt:lpstr>Plus Jakarta Sans</vt:lpstr>
      <vt:lpstr>Office Theme</vt:lpstr>
      <vt:lpstr>PowerPoint Presentation</vt:lpstr>
      <vt:lpstr>PowerPoint Presentation</vt:lpstr>
      <vt:lpstr>Existing Solutions &amp; Gaps</vt:lpstr>
      <vt:lpstr>Our Solutions &amp; Architecture Diagram</vt:lpstr>
      <vt:lpstr>Demo &amp; Product Walkthrough</vt:lpstr>
      <vt:lpstr>Tools and tech stack used</vt:lpstr>
      <vt:lpstr>Impact &amp; Use case</vt:lpstr>
      <vt:lpstr>Innovation highlights and Evaluation</vt:lpstr>
      <vt:lpstr>Limitations</vt:lpstr>
      <vt:lpstr>What’s next</vt:lpstr>
      <vt:lpstr>PowerPoint Presentation</vt:lpstr>
      <vt:lpstr>Brownie points slide(differentiation)</vt:lpstr>
      <vt:lpstr>Checklist- Updated on Public GitHub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Binny Lakra/PRISM /SRI-Bangalore/Professional/Samsung Electronics</dc:creator>
  <cp:lastModifiedBy>Goutam Jain</cp:lastModifiedBy>
  <cp:revision>5</cp:revision>
  <dcterms:created xsi:type="dcterms:W3CDTF">2026-09-07T12:01:01Z</dcterms:created>
  <dcterms:modified xsi:type="dcterms:W3CDTF">2026-09-30T14:00:48Z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</Properties>
</file>